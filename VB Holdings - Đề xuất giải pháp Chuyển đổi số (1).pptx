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1374100" cy="30276800"/>
  <p:notesSz cx="6858000" cy="9144000"/>
  <p:embeddedFontLst>
    <p:embeddedFont>
      <p:font typeface="Inter Bold" charset="1" panose="02000503000000020004"/>
      <p:regular r:id="rId13"/>
    </p:embeddedFont>
    <p:embeddedFont>
      <p:font typeface="Inter" charset="1" panose="0200050300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jpe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6.jpeg" Type="http://schemas.openxmlformats.org/officeDocument/2006/relationships/image"/><Relationship Id="rId4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401056" cy="30268745"/>
            <a:chOff x="0" y="0"/>
            <a:chExt cx="28534741" cy="40358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4742" cy="40358315"/>
            </a:xfrm>
            <a:custGeom>
              <a:avLst/>
              <a:gdLst/>
              <a:ahLst/>
              <a:cxnLst/>
              <a:rect r="r" b="b" t="t" l="l"/>
              <a:pathLst>
                <a:path h="40358315" w="28534742">
                  <a:moveTo>
                    <a:pt x="0" y="0"/>
                  </a:moveTo>
                  <a:lnTo>
                    <a:pt x="28534742" y="0"/>
                  </a:lnTo>
                  <a:lnTo>
                    <a:pt x="28534742" y="40358315"/>
                  </a:lnTo>
                  <a:lnTo>
                    <a:pt x="0" y="40358315"/>
                  </a:ln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36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3762" y="1078135"/>
            <a:ext cx="3503952" cy="1293762"/>
            <a:chOff x="0" y="0"/>
            <a:chExt cx="4671936" cy="1725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71949" cy="1725041"/>
            </a:xfrm>
            <a:custGeom>
              <a:avLst/>
              <a:gdLst/>
              <a:ahLst/>
              <a:cxnLst/>
              <a:rect r="r" b="b" t="t" l="l"/>
              <a:pathLst>
                <a:path h="1725041" w="4671949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4312539" y="0"/>
                  </a:lnTo>
                  <a:cubicBezTo>
                    <a:pt x="4511040" y="0"/>
                    <a:pt x="4671949" y="160909"/>
                    <a:pt x="4671949" y="359410"/>
                  </a:cubicBezTo>
                  <a:lnTo>
                    <a:pt x="4671949" y="1365631"/>
                  </a:lnTo>
                  <a:cubicBezTo>
                    <a:pt x="4671949" y="1564132"/>
                    <a:pt x="4511040" y="1725041"/>
                    <a:pt x="4312539" y="1725041"/>
                  </a:cubicBezTo>
                  <a:lnTo>
                    <a:pt x="359410" y="1725041"/>
                  </a:lnTo>
                  <a:cubicBezTo>
                    <a:pt x="160909" y="1725041"/>
                    <a:pt x="0" y="1564132"/>
                    <a:pt x="0" y="13656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398" y="1212904"/>
            <a:ext cx="3072698" cy="1024233"/>
            <a:chOff x="0" y="0"/>
            <a:chExt cx="4096931" cy="1365644"/>
          </a:xfrm>
        </p:grpSpPr>
        <p:sp>
          <p:nvSpPr>
            <p:cNvPr name="Freeform 7" id="7" descr="i1.png"/>
            <p:cNvSpPr/>
            <p:nvPr/>
          </p:nvSpPr>
          <p:spPr>
            <a:xfrm flipH="false" flipV="false" rot="0">
              <a:off x="0" y="0"/>
              <a:ext cx="4096893" cy="1365631"/>
            </a:xfrm>
            <a:custGeom>
              <a:avLst/>
              <a:gdLst/>
              <a:ahLst/>
              <a:cxnLst/>
              <a:rect r="r" b="b" t="t" l="l"/>
              <a:pathLst>
                <a:path h="1365631" w="4096893">
                  <a:moveTo>
                    <a:pt x="0" y="0"/>
                  </a:moveTo>
                  <a:lnTo>
                    <a:pt x="4096893" y="0"/>
                  </a:lnTo>
                  <a:lnTo>
                    <a:pt x="4096893" y="1365631"/>
                  </a:lnTo>
                  <a:lnTo>
                    <a:pt x="0" y="1365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297385" y="754694"/>
            <a:ext cx="3032257" cy="1617202"/>
            <a:chOff x="0" y="0"/>
            <a:chExt cx="7546975" cy="40250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46975" cy="4025138"/>
            </a:xfrm>
            <a:custGeom>
              <a:avLst/>
              <a:gdLst/>
              <a:ahLst/>
              <a:cxnLst/>
              <a:rect r="r" b="b" t="t" l="l"/>
              <a:pathLst>
                <a:path h="4025138" w="7546975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115683" y="0"/>
                  </a:lnTo>
                  <a:cubicBezTo>
                    <a:pt x="7353808" y="0"/>
                    <a:pt x="7546975" y="193040"/>
                    <a:pt x="7546975" y="431292"/>
                  </a:cubicBezTo>
                  <a:lnTo>
                    <a:pt x="7546975" y="3593846"/>
                  </a:lnTo>
                  <a:cubicBezTo>
                    <a:pt x="7546975" y="3831971"/>
                    <a:pt x="7353935" y="4025138"/>
                    <a:pt x="7115683" y="4025138"/>
                  </a:cubicBezTo>
                  <a:lnTo>
                    <a:pt x="431292" y="4025138"/>
                  </a:lnTo>
                  <a:cubicBezTo>
                    <a:pt x="193040" y="4025011"/>
                    <a:pt x="0" y="3831971"/>
                    <a:pt x="0" y="35938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465840" y="862508"/>
            <a:ext cx="2425827" cy="1300442"/>
            <a:chOff x="0" y="0"/>
            <a:chExt cx="6971970" cy="3737546"/>
          </a:xfrm>
        </p:grpSpPr>
        <p:sp>
          <p:nvSpPr>
            <p:cNvPr name="Freeform 11" id="11" descr="i2.png"/>
            <p:cNvSpPr/>
            <p:nvPr/>
          </p:nvSpPr>
          <p:spPr>
            <a:xfrm flipH="false" flipV="false" rot="0">
              <a:off x="0" y="0"/>
              <a:ext cx="6971919" cy="3737610"/>
            </a:xfrm>
            <a:custGeom>
              <a:avLst/>
              <a:gdLst/>
              <a:ahLst/>
              <a:cxnLst/>
              <a:rect r="r" b="b" t="t" l="l"/>
              <a:pathLst>
                <a:path h="3737610" w="6971919">
                  <a:moveTo>
                    <a:pt x="0" y="0"/>
                  </a:moveTo>
                  <a:lnTo>
                    <a:pt x="6971919" y="0"/>
                  </a:lnTo>
                  <a:lnTo>
                    <a:pt x="6971919" y="3737610"/>
                  </a:lnTo>
                  <a:lnTo>
                    <a:pt x="0" y="3737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93762" y="14554876"/>
            <a:ext cx="2425808" cy="134769"/>
            <a:chOff x="0" y="0"/>
            <a:chExt cx="3234411" cy="1796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34436" cy="179705"/>
            </a:xfrm>
            <a:custGeom>
              <a:avLst/>
              <a:gdLst/>
              <a:ahLst/>
              <a:cxnLst/>
              <a:rect r="r" b="b" t="t" l="l"/>
              <a:pathLst>
                <a:path h="179705" w="3234436">
                  <a:moveTo>
                    <a:pt x="0" y="71882"/>
                  </a:moveTo>
                  <a:cubicBezTo>
                    <a:pt x="0" y="32131"/>
                    <a:pt x="32131" y="0"/>
                    <a:pt x="71882" y="0"/>
                  </a:cubicBezTo>
                  <a:lnTo>
                    <a:pt x="3162554" y="0"/>
                  </a:lnTo>
                  <a:cubicBezTo>
                    <a:pt x="3202305" y="0"/>
                    <a:pt x="3234436" y="32131"/>
                    <a:pt x="3234436" y="71882"/>
                  </a:cubicBezTo>
                  <a:lnTo>
                    <a:pt x="3234436" y="107823"/>
                  </a:lnTo>
                  <a:cubicBezTo>
                    <a:pt x="3234436" y="147574"/>
                    <a:pt x="3202305" y="179705"/>
                    <a:pt x="3162554" y="179705"/>
                  </a:cubicBezTo>
                  <a:lnTo>
                    <a:pt x="71882" y="179705"/>
                  </a:lnTo>
                  <a:cubicBezTo>
                    <a:pt x="32131" y="179705"/>
                    <a:pt x="0" y="147447"/>
                    <a:pt x="0" y="107823"/>
                  </a:cubicBezTo>
                  <a:close/>
                </a:path>
              </a:pathLst>
            </a:custGeom>
            <a:solidFill>
              <a:srgbClr val="FFD966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60862" y="14569683"/>
            <a:ext cx="19662276" cy="13108184"/>
          </a:xfrm>
          <a:custGeom>
            <a:avLst/>
            <a:gdLst/>
            <a:ahLst/>
            <a:cxnLst/>
            <a:rect r="r" b="b" t="t" l="l"/>
            <a:pathLst>
              <a:path h="13108184" w="19662276">
                <a:moveTo>
                  <a:pt x="0" y="0"/>
                </a:moveTo>
                <a:lnTo>
                  <a:pt x="19662276" y="0"/>
                </a:lnTo>
                <a:lnTo>
                  <a:pt x="19662276" y="13108184"/>
                </a:lnTo>
                <a:lnTo>
                  <a:pt x="0" y="1310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93762" y="6142149"/>
            <a:ext cx="16172078" cy="47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b="true" sz="2759" spc="424">
                <a:solidFill>
                  <a:srgbClr val="23BFFF"/>
                </a:solidFill>
                <a:latin typeface="Inter Bold"/>
                <a:ea typeface="Inter Bold"/>
                <a:cs typeface="Inter Bold"/>
                <a:sym typeface="Inter Bold"/>
              </a:rPr>
              <a:t>TÀI LIỆU GIẢI PHÁP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3762" y="7052281"/>
            <a:ext cx="17519752" cy="299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4"/>
              </a:lnSpc>
            </a:pPr>
            <a:r>
              <a:rPr lang="en-US" sz="976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Số hoá vận hành và quản trị khu công nghiệp cùng Base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3762" y="12043334"/>
            <a:ext cx="16172078" cy="109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1">
                <a:solidFill>
                  <a:srgbClr val="C9D6FF"/>
                </a:solidFill>
                <a:latin typeface="Inter"/>
                <a:ea typeface="Inter"/>
                <a:cs typeface="Inter"/>
                <a:sym typeface="Inter"/>
              </a:rPr>
              <a:t>Giải pháp triển khai giải pháp quản trị vận hành mang tên: VB Holdings’ Intelligent Digital Workspace.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5306" y="27630242"/>
            <a:ext cx="10781386" cy="4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546">
                <a:solidFill>
                  <a:srgbClr val="C9D6FF"/>
                </a:solidFill>
                <a:latin typeface="Inter"/>
                <a:ea typeface="Inter"/>
                <a:cs typeface="Inter"/>
                <a:sym typeface="Inter"/>
              </a:rPr>
              <a:t>Dành cho Ban Lãnh đạo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5306" y="28185121"/>
            <a:ext cx="16172078" cy="79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6"/>
              </a:lnSpc>
            </a:pPr>
            <a:r>
              <a:rPr lang="en-US" sz="466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CÔNG TY CP </a:t>
            </a:r>
            <a:r>
              <a:rPr lang="en-US" sz="466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VB HOLDINGS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401056" cy="4043020"/>
            <a:chOff x="0" y="0"/>
            <a:chExt cx="28534741" cy="5390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4742" cy="5390642"/>
            </a:xfrm>
            <a:custGeom>
              <a:avLst/>
              <a:gdLst/>
              <a:ahLst/>
              <a:cxnLst/>
              <a:rect r="r" b="b" t="t" l="l"/>
              <a:pathLst>
                <a:path h="5390642" w="28534742">
                  <a:moveTo>
                    <a:pt x="0" y="0"/>
                  </a:moveTo>
                  <a:lnTo>
                    <a:pt x="28534742" y="0"/>
                  </a:lnTo>
                  <a:lnTo>
                    <a:pt x="28534742" y="5390642"/>
                  </a:lnTo>
                  <a:lnTo>
                    <a:pt x="0" y="5390642"/>
                  </a:ln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0223" y="808606"/>
            <a:ext cx="2857071" cy="1078135"/>
            <a:chOff x="0" y="0"/>
            <a:chExt cx="3809428" cy="14375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09492" cy="1437513"/>
            </a:xfrm>
            <a:custGeom>
              <a:avLst/>
              <a:gdLst/>
              <a:ahLst/>
              <a:cxnLst/>
              <a:rect r="r" b="b" t="t" l="l"/>
              <a:pathLst>
                <a:path h="1437513" w="380949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3521964" y="0"/>
                  </a:lnTo>
                  <a:cubicBezTo>
                    <a:pt x="3680714" y="0"/>
                    <a:pt x="3809492" y="128778"/>
                    <a:pt x="3809492" y="287528"/>
                  </a:cubicBezTo>
                  <a:lnTo>
                    <a:pt x="3809492" y="1149985"/>
                  </a:lnTo>
                  <a:cubicBezTo>
                    <a:pt x="3809492" y="1308735"/>
                    <a:pt x="3680714" y="1437513"/>
                    <a:pt x="3521964" y="1437513"/>
                  </a:cubicBezTo>
                  <a:lnTo>
                    <a:pt x="287528" y="1437513"/>
                  </a:lnTo>
                  <a:cubicBezTo>
                    <a:pt x="128778" y="1437513"/>
                    <a:pt x="0" y="1308735"/>
                    <a:pt x="0" y="11499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411938" y="916419"/>
            <a:ext cx="2533621" cy="862508"/>
            <a:chOff x="0" y="0"/>
            <a:chExt cx="3378162" cy="1150010"/>
          </a:xfrm>
        </p:grpSpPr>
        <p:sp>
          <p:nvSpPr>
            <p:cNvPr name="Freeform 7" id="7" descr="i3.png"/>
            <p:cNvSpPr/>
            <p:nvPr/>
          </p:nvSpPr>
          <p:spPr>
            <a:xfrm flipH="false" flipV="false" rot="0">
              <a:off x="0" y="0"/>
              <a:ext cx="3378200" cy="1149985"/>
            </a:xfrm>
            <a:custGeom>
              <a:avLst/>
              <a:gdLst/>
              <a:ahLst/>
              <a:cxnLst/>
              <a:rect r="r" b="b" t="t" l="l"/>
              <a:pathLst>
                <a:path h="1149985" w="3378200">
                  <a:moveTo>
                    <a:pt x="0" y="0"/>
                  </a:moveTo>
                  <a:lnTo>
                    <a:pt x="3378200" y="0"/>
                  </a:lnTo>
                  <a:lnTo>
                    <a:pt x="3378200" y="1149985"/>
                  </a:lnTo>
                  <a:lnTo>
                    <a:pt x="0" y="1149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3762" y="4635998"/>
            <a:ext cx="4460796" cy="2587533"/>
            <a:chOff x="0" y="0"/>
            <a:chExt cx="5947728" cy="34500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47791" cy="3450082"/>
            </a:xfrm>
            <a:custGeom>
              <a:avLst/>
              <a:gdLst/>
              <a:ahLst/>
              <a:cxnLst/>
              <a:rect r="r" b="b" t="t" l="l"/>
              <a:pathLst>
                <a:path h="3450082" w="5947791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5516499" y="0"/>
                  </a:lnTo>
                  <a:cubicBezTo>
                    <a:pt x="5754624" y="0"/>
                    <a:pt x="5947791" y="193040"/>
                    <a:pt x="5947791" y="431292"/>
                  </a:cubicBezTo>
                  <a:lnTo>
                    <a:pt x="5947791" y="3018790"/>
                  </a:lnTo>
                  <a:cubicBezTo>
                    <a:pt x="5947791" y="3256915"/>
                    <a:pt x="5754751" y="3450082"/>
                    <a:pt x="5516499" y="3450082"/>
                  </a:cubicBezTo>
                  <a:lnTo>
                    <a:pt x="431292" y="3450082"/>
                  </a:lnTo>
                  <a:cubicBezTo>
                    <a:pt x="193040" y="3450082"/>
                    <a:pt x="0" y="3256915"/>
                    <a:pt x="0" y="30187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78007" y="4635998"/>
            <a:ext cx="4460796" cy="2587533"/>
            <a:chOff x="0" y="0"/>
            <a:chExt cx="5947728" cy="34500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47791" cy="3450082"/>
            </a:xfrm>
            <a:custGeom>
              <a:avLst/>
              <a:gdLst/>
              <a:ahLst/>
              <a:cxnLst/>
              <a:rect r="r" b="b" t="t" l="l"/>
              <a:pathLst>
                <a:path h="3450082" w="5947791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5516499" y="0"/>
                  </a:lnTo>
                  <a:cubicBezTo>
                    <a:pt x="5754624" y="0"/>
                    <a:pt x="5947791" y="193040"/>
                    <a:pt x="5947791" y="431292"/>
                  </a:cubicBezTo>
                  <a:lnTo>
                    <a:pt x="5947791" y="3018790"/>
                  </a:lnTo>
                  <a:cubicBezTo>
                    <a:pt x="5947791" y="3256915"/>
                    <a:pt x="5754751" y="3450082"/>
                    <a:pt x="5516499" y="3450082"/>
                  </a:cubicBezTo>
                  <a:lnTo>
                    <a:pt x="431292" y="3450082"/>
                  </a:lnTo>
                  <a:cubicBezTo>
                    <a:pt x="193040" y="3450082"/>
                    <a:pt x="0" y="3256915"/>
                    <a:pt x="0" y="30187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62243" y="4635998"/>
            <a:ext cx="4460796" cy="2587533"/>
            <a:chOff x="0" y="0"/>
            <a:chExt cx="5947728" cy="34500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47791" cy="3450082"/>
            </a:xfrm>
            <a:custGeom>
              <a:avLst/>
              <a:gdLst/>
              <a:ahLst/>
              <a:cxnLst/>
              <a:rect r="r" b="b" t="t" l="l"/>
              <a:pathLst>
                <a:path h="3450082" w="5947791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5516499" y="0"/>
                  </a:lnTo>
                  <a:cubicBezTo>
                    <a:pt x="5754624" y="0"/>
                    <a:pt x="5947791" y="193040"/>
                    <a:pt x="5947791" y="431292"/>
                  </a:cubicBezTo>
                  <a:lnTo>
                    <a:pt x="5947791" y="3018790"/>
                  </a:lnTo>
                  <a:cubicBezTo>
                    <a:pt x="5947791" y="3256915"/>
                    <a:pt x="5754751" y="3450082"/>
                    <a:pt x="5516499" y="3450082"/>
                  </a:cubicBezTo>
                  <a:lnTo>
                    <a:pt x="431292" y="3450082"/>
                  </a:lnTo>
                  <a:cubicBezTo>
                    <a:pt x="193040" y="3450082"/>
                    <a:pt x="0" y="3256915"/>
                    <a:pt x="0" y="30187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646489" y="4635998"/>
            <a:ext cx="4460796" cy="2587533"/>
            <a:chOff x="0" y="0"/>
            <a:chExt cx="5947728" cy="34500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47791" cy="3450082"/>
            </a:xfrm>
            <a:custGeom>
              <a:avLst/>
              <a:gdLst/>
              <a:ahLst/>
              <a:cxnLst/>
              <a:rect r="r" b="b" t="t" l="l"/>
              <a:pathLst>
                <a:path h="3450082" w="5947791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5516499" y="0"/>
                  </a:lnTo>
                  <a:cubicBezTo>
                    <a:pt x="5754624" y="0"/>
                    <a:pt x="5947791" y="193040"/>
                    <a:pt x="5947791" y="431292"/>
                  </a:cubicBezTo>
                  <a:lnTo>
                    <a:pt x="5947791" y="3018790"/>
                  </a:lnTo>
                  <a:cubicBezTo>
                    <a:pt x="5947791" y="3256915"/>
                    <a:pt x="5754751" y="3450082"/>
                    <a:pt x="5516499" y="3450082"/>
                  </a:cubicBezTo>
                  <a:lnTo>
                    <a:pt x="431292" y="3450082"/>
                  </a:lnTo>
                  <a:cubicBezTo>
                    <a:pt x="193040" y="3450082"/>
                    <a:pt x="0" y="3256915"/>
                    <a:pt x="0" y="30187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93762" y="8517293"/>
            <a:ext cx="5983672" cy="3018787"/>
            <a:chOff x="0" y="0"/>
            <a:chExt cx="7978229" cy="40250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78267" cy="4025138"/>
            </a:xfrm>
            <a:custGeom>
              <a:avLst/>
              <a:gdLst/>
              <a:ahLst/>
              <a:cxnLst/>
              <a:rect r="r" b="b" t="t" l="l"/>
              <a:pathLst>
                <a:path h="4025138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3593846"/>
                  </a:lnTo>
                  <a:cubicBezTo>
                    <a:pt x="7978267" y="3831971"/>
                    <a:pt x="7785227" y="4025138"/>
                    <a:pt x="7546975" y="4025138"/>
                  </a:cubicBezTo>
                  <a:lnTo>
                    <a:pt x="431292" y="4025138"/>
                  </a:lnTo>
                  <a:cubicBezTo>
                    <a:pt x="193040" y="4025011"/>
                    <a:pt x="0" y="3831971"/>
                    <a:pt x="0" y="3593846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708687" y="8517293"/>
            <a:ext cx="5983672" cy="3018787"/>
            <a:chOff x="0" y="0"/>
            <a:chExt cx="7978229" cy="40250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78267" cy="4025138"/>
            </a:xfrm>
            <a:custGeom>
              <a:avLst/>
              <a:gdLst/>
              <a:ahLst/>
              <a:cxnLst/>
              <a:rect r="r" b="b" t="t" l="l"/>
              <a:pathLst>
                <a:path h="4025138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3593846"/>
                  </a:lnTo>
                  <a:cubicBezTo>
                    <a:pt x="7978267" y="3831971"/>
                    <a:pt x="7785227" y="4025138"/>
                    <a:pt x="7546975" y="4025138"/>
                  </a:cubicBezTo>
                  <a:lnTo>
                    <a:pt x="431292" y="4025138"/>
                  </a:lnTo>
                  <a:cubicBezTo>
                    <a:pt x="193040" y="4025011"/>
                    <a:pt x="0" y="3831971"/>
                    <a:pt x="0" y="3593846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123613" y="8517293"/>
            <a:ext cx="5983672" cy="3018787"/>
            <a:chOff x="0" y="0"/>
            <a:chExt cx="7978229" cy="40250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78267" cy="4025138"/>
            </a:xfrm>
            <a:custGeom>
              <a:avLst/>
              <a:gdLst/>
              <a:ahLst/>
              <a:cxnLst/>
              <a:rect r="r" b="b" t="t" l="l"/>
              <a:pathLst>
                <a:path h="4025138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3593846"/>
                  </a:lnTo>
                  <a:cubicBezTo>
                    <a:pt x="7978267" y="3831971"/>
                    <a:pt x="7785227" y="4025138"/>
                    <a:pt x="7546975" y="4025138"/>
                  </a:cubicBezTo>
                  <a:lnTo>
                    <a:pt x="431292" y="4025138"/>
                  </a:lnTo>
                  <a:cubicBezTo>
                    <a:pt x="193040" y="4025011"/>
                    <a:pt x="0" y="3831971"/>
                    <a:pt x="0" y="3593846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93762" y="12829851"/>
            <a:ext cx="18813523" cy="4043020"/>
            <a:chOff x="0" y="0"/>
            <a:chExt cx="25084697" cy="53906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084785" cy="5390769"/>
            </a:xfrm>
            <a:custGeom>
              <a:avLst/>
              <a:gdLst/>
              <a:ahLst/>
              <a:cxnLst/>
              <a:rect r="r" b="b" t="t" l="l"/>
              <a:pathLst>
                <a:path h="5390769" w="25084785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24653494" y="0"/>
                  </a:lnTo>
                  <a:cubicBezTo>
                    <a:pt x="24891619" y="0"/>
                    <a:pt x="25084785" y="193040"/>
                    <a:pt x="25084785" y="431292"/>
                  </a:cubicBezTo>
                  <a:lnTo>
                    <a:pt x="25084785" y="4959477"/>
                  </a:lnTo>
                  <a:cubicBezTo>
                    <a:pt x="25084785" y="5197602"/>
                    <a:pt x="24891746" y="5390769"/>
                    <a:pt x="24653494" y="5390769"/>
                  </a:cubicBezTo>
                  <a:lnTo>
                    <a:pt x="431292" y="5390769"/>
                  </a:lnTo>
                  <a:cubicBezTo>
                    <a:pt x="193040" y="5390642"/>
                    <a:pt x="0" y="5197602"/>
                    <a:pt x="0" y="4959477"/>
                  </a:cubicBezTo>
                  <a:close/>
                </a:path>
              </a:pathLst>
            </a:custGeom>
            <a:solidFill>
              <a:srgbClr val="E3F6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80293" y="18153164"/>
            <a:ext cx="2982849" cy="2452764"/>
            <a:chOff x="0" y="0"/>
            <a:chExt cx="3977132" cy="32703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77132" cy="3270377"/>
            </a:xfrm>
            <a:custGeom>
              <a:avLst/>
              <a:gdLst/>
              <a:ahLst/>
              <a:cxnLst/>
              <a:rect r="r" b="b" t="t" l="l"/>
              <a:pathLst>
                <a:path h="3270377" w="3977132">
                  <a:moveTo>
                    <a:pt x="0" y="290703"/>
                  </a:moveTo>
                  <a:cubicBezTo>
                    <a:pt x="0" y="130175"/>
                    <a:pt x="130175" y="0"/>
                    <a:pt x="290703" y="0"/>
                  </a:cubicBezTo>
                  <a:lnTo>
                    <a:pt x="3686429" y="0"/>
                  </a:lnTo>
                  <a:cubicBezTo>
                    <a:pt x="3846957" y="0"/>
                    <a:pt x="3977132" y="130175"/>
                    <a:pt x="3977132" y="290703"/>
                  </a:cubicBezTo>
                  <a:lnTo>
                    <a:pt x="3977132" y="2979674"/>
                  </a:lnTo>
                  <a:cubicBezTo>
                    <a:pt x="3977132" y="3140202"/>
                    <a:pt x="3846957" y="3270377"/>
                    <a:pt x="3686429" y="3270377"/>
                  </a:cubicBezTo>
                  <a:lnTo>
                    <a:pt x="290703" y="3270377"/>
                  </a:lnTo>
                  <a:cubicBezTo>
                    <a:pt x="130175" y="3270377"/>
                    <a:pt x="0" y="3140202"/>
                    <a:pt x="0" y="2979674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74629" y="18247500"/>
            <a:ext cx="2794178" cy="2264092"/>
            <a:chOff x="0" y="0"/>
            <a:chExt cx="3725570" cy="3018790"/>
          </a:xfrm>
        </p:grpSpPr>
        <p:sp>
          <p:nvSpPr>
            <p:cNvPr name="Freeform 27" id="27" descr="i4.png"/>
            <p:cNvSpPr/>
            <p:nvPr/>
          </p:nvSpPr>
          <p:spPr>
            <a:xfrm flipH="false" flipV="false" rot="0">
              <a:off x="0" y="0"/>
              <a:ext cx="3725545" cy="3018790"/>
            </a:xfrm>
            <a:custGeom>
              <a:avLst/>
              <a:gdLst/>
              <a:ahLst/>
              <a:cxnLst/>
              <a:rect r="r" b="b" t="t" l="l"/>
              <a:pathLst>
                <a:path h="3018790" w="3725545">
                  <a:moveTo>
                    <a:pt x="0" y="0"/>
                  </a:moveTo>
                  <a:lnTo>
                    <a:pt x="3725545" y="0"/>
                  </a:lnTo>
                  <a:lnTo>
                    <a:pt x="3725545" y="3018790"/>
                  </a:lnTo>
                  <a:lnTo>
                    <a:pt x="0" y="3018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451814" y="18153164"/>
            <a:ext cx="2982849" cy="2452764"/>
            <a:chOff x="0" y="0"/>
            <a:chExt cx="3977132" cy="32703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77132" cy="3270377"/>
            </a:xfrm>
            <a:custGeom>
              <a:avLst/>
              <a:gdLst/>
              <a:ahLst/>
              <a:cxnLst/>
              <a:rect r="r" b="b" t="t" l="l"/>
              <a:pathLst>
                <a:path h="3270377" w="3977132">
                  <a:moveTo>
                    <a:pt x="0" y="290703"/>
                  </a:moveTo>
                  <a:cubicBezTo>
                    <a:pt x="0" y="130175"/>
                    <a:pt x="130175" y="0"/>
                    <a:pt x="290703" y="0"/>
                  </a:cubicBezTo>
                  <a:lnTo>
                    <a:pt x="3686429" y="0"/>
                  </a:lnTo>
                  <a:cubicBezTo>
                    <a:pt x="3846957" y="0"/>
                    <a:pt x="3977132" y="130175"/>
                    <a:pt x="3977132" y="290703"/>
                  </a:cubicBezTo>
                  <a:lnTo>
                    <a:pt x="3977132" y="2979674"/>
                  </a:lnTo>
                  <a:cubicBezTo>
                    <a:pt x="3977132" y="3140202"/>
                    <a:pt x="3846957" y="3270377"/>
                    <a:pt x="3686429" y="3270377"/>
                  </a:cubicBezTo>
                  <a:lnTo>
                    <a:pt x="290703" y="3270377"/>
                  </a:lnTo>
                  <a:cubicBezTo>
                    <a:pt x="130175" y="3270377"/>
                    <a:pt x="0" y="3140202"/>
                    <a:pt x="0" y="2979674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546149" y="18247500"/>
            <a:ext cx="2794178" cy="2264092"/>
            <a:chOff x="0" y="0"/>
            <a:chExt cx="3725570" cy="3018790"/>
          </a:xfrm>
        </p:grpSpPr>
        <p:sp>
          <p:nvSpPr>
            <p:cNvPr name="Freeform 31" id="31" descr="i5.png"/>
            <p:cNvSpPr/>
            <p:nvPr/>
          </p:nvSpPr>
          <p:spPr>
            <a:xfrm flipH="false" flipV="false" rot="0">
              <a:off x="0" y="0"/>
              <a:ext cx="3725545" cy="3018790"/>
            </a:xfrm>
            <a:custGeom>
              <a:avLst/>
              <a:gdLst/>
              <a:ahLst/>
              <a:cxnLst/>
              <a:rect r="r" b="b" t="t" l="l"/>
              <a:pathLst>
                <a:path h="3018790" w="3725545">
                  <a:moveTo>
                    <a:pt x="0" y="0"/>
                  </a:moveTo>
                  <a:lnTo>
                    <a:pt x="3725545" y="0"/>
                  </a:lnTo>
                  <a:lnTo>
                    <a:pt x="3725545" y="3018790"/>
                  </a:lnTo>
                  <a:lnTo>
                    <a:pt x="0" y="3018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623343" y="18153164"/>
            <a:ext cx="2982849" cy="2452764"/>
            <a:chOff x="0" y="0"/>
            <a:chExt cx="3977132" cy="32703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77132" cy="3270377"/>
            </a:xfrm>
            <a:custGeom>
              <a:avLst/>
              <a:gdLst/>
              <a:ahLst/>
              <a:cxnLst/>
              <a:rect r="r" b="b" t="t" l="l"/>
              <a:pathLst>
                <a:path h="3270377" w="3977132">
                  <a:moveTo>
                    <a:pt x="0" y="290703"/>
                  </a:moveTo>
                  <a:cubicBezTo>
                    <a:pt x="0" y="130175"/>
                    <a:pt x="130175" y="0"/>
                    <a:pt x="290703" y="0"/>
                  </a:cubicBezTo>
                  <a:lnTo>
                    <a:pt x="3686429" y="0"/>
                  </a:lnTo>
                  <a:cubicBezTo>
                    <a:pt x="3846957" y="0"/>
                    <a:pt x="3977132" y="130175"/>
                    <a:pt x="3977132" y="290703"/>
                  </a:cubicBezTo>
                  <a:lnTo>
                    <a:pt x="3977132" y="2979674"/>
                  </a:lnTo>
                  <a:cubicBezTo>
                    <a:pt x="3977132" y="3140202"/>
                    <a:pt x="3846957" y="3270377"/>
                    <a:pt x="3686429" y="3270377"/>
                  </a:cubicBezTo>
                  <a:lnTo>
                    <a:pt x="290703" y="3270377"/>
                  </a:lnTo>
                  <a:cubicBezTo>
                    <a:pt x="130175" y="3270377"/>
                    <a:pt x="0" y="3140202"/>
                    <a:pt x="0" y="2979674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717679" y="18247500"/>
            <a:ext cx="2794178" cy="2264092"/>
            <a:chOff x="0" y="0"/>
            <a:chExt cx="3725570" cy="3018790"/>
          </a:xfrm>
        </p:grpSpPr>
        <p:sp>
          <p:nvSpPr>
            <p:cNvPr name="Freeform 35" id="35" descr="i6.png"/>
            <p:cNvSpPr/>
            <p:nvPr/>
          </p:nvSpPr>
          <p:spPr>
            <a:xfrm flipH="false" flipV="false" rot="0">
              <a:off x="0" y="0"/>
              <a:ext cx="3725545" cy="3018790"/>
            </a:xfrm>
            <a:custGeom>
              <a:avLst/>
              <a:gdLst/>
              <a:ahLst/>
              <a:cxnLst/>
              <a:rect r="r" b="b" t="t" l="l"/>
              <a:pathLst>
                <a:path h="3018790" w="3725545">
                  <a:moveTo>
                    <a:pt x="0" y="0"/>
                  </a:moveTo>
                  <a:lnTo>
                    <a:pt x="3725545" y="0"/>
                  </a:lnTo>
                  <a:lnTo>
                    <a:pt x="3725545" y="3018790"/>
                  </a:lnTo>
                  <a:lnTo>
                    <a:pt x="0" y="3018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94863" y="18153164"/>
            <a:ext cx="2982849" cy="2452764"/>
            <a:chOff x="0" y="0"/>
            <a:chExt cx="3977132" cy="32703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77132" cy="3270377"/>
            </a:xfrm>
            <a:custGeom>
              <a:avLst/>
              <a:gdLst/>
              <a:ahLst/>
              <a:cxnLst/>
              <a:rect r="r" b="b" t="t" l="l"/>
              <a:pathLst>
                <a:path h="3270377" w="3977132">
                  <a:moveTo>
                    <a:pt x="0" y="290703"/>
                  </a:moveTo>
                  <a:cubicBezTo>
                    <a:pt x="0" y="130175"/>
                    <a:pt x="130175" y="0"/>
                    <a:pt x="290703" y="0"/>
                  </a:cubicBezTo>
                  <a:lnTo>
                    <a:pt x="3686429" y="0"/>
                  </a:lnTo>
                  <a:cubicBezTo>
                    <a:pt x="3846957" y="0"/>
                    <a:pt x="3977132" y="130175"/>
                    <a:pt x="3977132" y="290703"/>
                  </a:cubicBezTo>
                  <a:lnTo>
                    <a:pt x="3977132" y="2979674"/>
                  </a:lnTo>
                  <a:cubicBezTo>
                    <a:pt x="3977132" y="3140202"/>
                    <a:pt x="3846957" y="3270377"/>
                    <a:pt x="3686429" y="3270377"/>
                  </a:cubicBezTo>
                  <a:lnTo>
                    <a:pt x="290703" y="3270377"/>
                  </a:lnTo>
                  <a:cubicBezTo>
                    <a:pt x="130175" y="3270377"/>
                    <a:pt x="0" y="3140202"/>
                    <a:pt x="0" y="2979674"/>
                  </a:cubicBezTo>
                  <a:close/>
                </a:path>
              </a:pathLst>
            </a:custGeom>
            <a:blipFill>
              <a:blip r:embed="rId6"/>
              <a:stretch>
                <a:fillRect l="-21596" t="0" r="-21596" b="0"/>
              </a:stretch>
            </a:blip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966393" y="18153164"/>
            <a:ext cx="2982849" cy="2452764"/>
            <a:chOff x="0" y="0"/>
            <a:chExt cx="3977132" cy="32703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77132" cy="3270377"/>
            </a:xfrm>
            <a:custGeom>
              <a:avLst/>
              <a:gdLst/>
              <a:ahLst/>
              <a:cxnLst/>
              <a:rect r="r" b="b" t="t" l="l"/>
              <a:pathLst>
                <a:path h="3270377" w="3977132">
                  <a:moveTo>
                    <a:pt x="0" y="290703"/>
                  </a:moveTo>
                  <a:cubicBezTo>
                    <a:pt x="0" y="130175"/>
                    <a:pt x="130175" y="0"/>
                    <a:pt x="290703" y="0"/>
                  </a:cubicBezTo>
                  <a:lnTo>
                    <a:pt x="3686429" y="0"/>
                  </a:lnTo>
                  <a:cubicBezTo>
                    <a:pt x="3846957" y="0"/>
                    <a:pt x="3977132" y="130175"/>
                    <a:pt x="3977132" y="290703"/>
                  </a:cubicBezTo>
                  <a:lnTo>
                    <a:pt x="3977132" y="2979674"/>
                  </a:lnTo>
                  <a:cubicBezTo>
                    <a:pt x="3977132" y="3140202"/>
                    <a:pt x="3846957" y="3270377"/>
                    <a:pt x="3686429" y="3270377"/>
                  </a:cubicBezTo>
                  <a:lnTo>
                    <a:pt x="290703" y="3270377"/>
                  </a:lnTo>
                  <a:cubicBezTo>
                    <a:pt x="130175" y="3270377"/>
                    <a:pt x="0" y="3140202"/>
                    <a:pt x="0" y="2979674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060729" y="18247500"/>
            <a:ext cx="2794178" cy="2264092"/>
            <a:chOff x="0" y="0"/>
            <a:chExt cx="3725570" cy="3018790"/>
          </a:xfrm>
        </p:grpSpPr>
        <p:sp>
          <p:nvSpPr>
            <p:cNvPr name="Freeform 41" id="41" descr="i8.png"/>
            <p:cNvSpPr/>
            <p:nvPr/>
          </p:nvSpPr>
          <p:spPr>
            <a:xfrm flipH="false" flipV="false" rot="0">
              <a:off x="0" y="0"/>
              <a:ext cx="3725545" cy="3018790"/>
            </a:xfrm>
            <a:custGeom>
              <a:avLst/>
              <a:gdLst/>
              <a:ahLst/>
              <a:cxnLst/>
              <a:rect r="r" b="b" t="t" l="l"/>
              <a:pathLst>
                <a:path h="3018790" w="3725545">
                  <a:moveTo>
                    <a:pt x="0" y="0"/>
                  </a:moveTo>
                  <a:lnTo>
                    <a:pt x="3725545" y="0"/>
                  </a:lnTo>
                  <a:lnTo>
                    <a:pt x="3725545" y="3018790"/>
                  </a:lnTo>
                  <a:lnTo>
                    <a:pt x="0" y="3018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137913" y="18153164"/>
            <a:ext cx="2982849" cy="2452764"/>
            <a:chOff x="0" y="0"/>
            <a:chExt cx="3977132" cy="32703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77132" cy="3270377"/>
            </a:xfrm>
            <a:custGeom>
              <a:avLst/>
              <a:gdLst/>
              <a:ahLst/>
              <a:cxnLst/>
              <a:rect r="r" b="b" t="t" l="l"/>
              <a:pathLst>
                <a:path h="3270377" w="3977132">
                  <a:moveTo>
                    <a:pt x="0" y="290703"/>
                  </a:moveTo>
                  <a:cubicBezTo>
                    <a:pt x="0" y="130175"/>
                    <a:pt x="130175" y="0"/>
                    <a:pt x="290703" y="0"/>
                  </a:cubicBezTo>
                  <a:lnTo>
                    <a:pt x="3686429" y="0"/>
                  </a:lnTo>
                  <a:cubicBezTo>
                    <a:pt x="3846957" y="0"/>
                    <a:pt x="3977132" y="130175"/>
                    <a:pt x="3977132" y="290703"/>
                  </a:cubicBezTo>
                  <a:lnTo>
                    <a:pt x="3977132" y="2979674"/>
                  </a:lnTo>
                  <a:cubicBezTo>
                    <a:pt x="3977132" y="3140202"/>
                    <a:pt x="3846957" y="3270377"/>
                    <a:pt x="3686429" y="3270377"/>
                  </a:cubicBezTo>
                  <a:lnTo>
                    <a:pt x="290703" y="3270377"/>
                  </a:lnTo>
                  <a:cubicBezTo>
                    <a:pt x="130175" y="3270377"/>
                    <a:pt x="0" y="3140202"/>
                    <a:pt x="0" y="2979674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7232249" y="18247500"/>
            <a:ext cx="2794178" cy="2264092"/>
            <a:chOff x="0" y="0"/>
            <a:chExt cx="3725570" cy="3018790"/>
          </a:xfrm>
        </p:grpSpPr>
        <p:sp>
          <p:nvSpPr>
            <p:cNvPr name="Freeform 45" id="45" descr="i9.png"/>
            <p:cNvSpPr/>
            <p:nvPr/>
          </p:nvSpPr>
          <p:spPr>
            <a:xfrm flipH="false" flipV="false" rot="0">
              <a:off x="0" y="0"/>
              <a:ext cx="3725545" cy="3018790"/>
            </a:xfrm>
            <a:custGeom>
              <a:avLst/>
              <a:gdLst/>
              <a:ahLst/>
              <a:cxnLst/>
              <a:rect r="r" b="b" t="t" l="l"/>
              <a:pathLst>
                <a:path h="3018790" w="3725545">
                  <a:moveTo>
                    <a:pt x="0" y="0"/>
                  </a:moveTo>
                  <a:lnTo>
                    <a:pt x="3725545" y="0"/>
                  </a:lnTo>
                  <a:lnTo>
                    <a:pt x="3725545" y="3018790"/>
                  </a:lnTo>
                  <a:lnTo>
                    <a:pt x="0" y="3018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93762" y="21886212"/>
            <a:ext cx="6055547" cy="1886741"/>
            <a:chOff x="0" y="0"/>
            <a:chExt cx="8074063" cy="25156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74152" cy="2515743"/>
            </a:xfrm>
            <a:custGeom>
              <a:avLst/>
              <a:gdLst/>
              <a:ahLst/>
              <a:cxnLst/>
              <a:rect r="r" b="b" t="t" l="l"/>
              <a:pathLst>
                <a:path h="2515743" w="8074152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7714742" y="0"/>
                  </a:lnTo>
                  <a:cubicBezTo>
                    <a:pt x="7913243" y="0"/>
                    <a:pt x="8074152" y="160909"/>
                    <a:pt x="8074152" y="359410"/>
                  </a:cubicBezTo>
                  <a:lnTo>
                    <a:pt x="8074152" y="2156333"/>
                  </a:lnTo>
                  <a:cubicBezTo>
                    <a:pt x="8074152" y="2354834"/>
                    <a:pt x="7913243" y="2515743"/>
                    <a:pt x="7714742" y="2515743"/>
                  </a:cubicBezTo>
                  <a:lnTo>
                    <a:pt x="359410" y="2515743"/>
                  </a:lnTo>
                  <a:cubicBezTo>
                    <a:pt x="160909" y="2515743"/>
                    <a:pt x="0" y="2354834"/>
                    <a:pt x="0" y="2156333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672749" y="21886212"/>
            <a:ext cx="6055547" cy="1886741"/>
            <a:chOff x="0" y="0"/>
            <a:chExt cx="8074063" cy="25156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74152" cy="2515743"/>
            </a:xfrm>
            <a:custGeom>
              <a:avLst/>
              <a:gdLst/>
              <a:ahLst/>
              <a:cxnLst/>
              <a:rect r="r" b="b" t="t" l="l"/>
              <a:pathLst>
                <a:path h="2515743" w="8074152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7714742" y="0"/>
                  </a:lnTo>
                  <a:cubicBezTo>
                    <a:pt x="7913243" y="0"/>
                    <a:pt x="8074152" y="160909"/>
                    <a:pt x="8074152" y="359410"/>
                  </a:cubicBezTo>
                  <a:lnTo>
                    <a:pt x="8074152" y="2156333"/>
                  </a:lnTo>
                  <a:cubicBezTo>
                    <a:pt x="8074152" y="2354834"/>
                    <a:pt x="7913243" y="2515743"/>
                    <a:pt x="7714742" y="2515743"/>
                  </a:cubicBezTo>
                  <a:lnTo>
                    <a:pt x="359410" y="2515743"/>
                  </a:lnTo>
                  <a:cubicBezTo>
                    <a:pt x="160909" y="2515743"/>
                    <a:pt x="0" y="2354834"/>
                    <a:pt x="0" y="2156333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051737" y="21886212"/>
            <a:ext cx="6055547" cy="1886741"/>
            <a:chOff x="0" y="0"/>
            <a:chExt cx="8074063" cy="251565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074152" cy="2515743"/>
            </a:xfrm>
            <a:custGeom>
              <a:avLst/>
              <a:gdLst/>
              <a:ahLst/>
              <a:cxnLst/>
              <a:rect r="r" b="b" t="t" l="l"/>
              <a:pathLst>
                <a:path h="2515743" w="8074152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7714742" y="0"/>
                  </a:lnTo>
                  <a:cubicBezTo>
                    <a:pt x="7913243" y="0"/>
                    <a:pt x="8074152" y="160909"/>
                    <a:pt x="8074152" y="359410"/>
                  </a:cubicBezTo>
                  <a:lnTo>
                    <a:pt x="8074152" y="2156333"/>
                  </a:lnTo>
                  <a:cubicBezTo>
                    <a:pt x="8074152" y="2354834"/>
                    <a:pt x="7913243" y="2515743"/>
                    <a:pt x="7714742" y="2515743"/>
                  </a:cubicBezTo>
                  <a:lnTo>
                    <a:pt x="359410" y="2515743"/>
                  </a:lnTo>
                  <a:cubicBezTo>
                    <a:pt x="160909" y="2515743"/>
                    <a:pt x="0" y="2354834"/>
                    <a:pt x="0" y="2156333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93762" y="922696"/>
            <a:ext cx="15093944" cy="4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b="true" sz="2546" spc="297">
                <a:solidFill>
                  <a:srgbClr val="23BFFF"/>
                </a:solidFill>
                <a:latin typeface="Inter Bold"/>
                <a:ea typeface="Inter Bold"/>
                <a:cs typeface="Inter Bold"/>
                <a:sym typeface="Inter Bold"/>
              </a:rPr>
              <a:t>GIỚI THIỆU BASE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93762" y="1417387"/>
            <a:ext cx="15902549" cy="87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3"/>
              </a:lnSpc>
            </a:pPr>
            <a:r>
              <a:rPr lang="en-US" sz="551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Base và điểm khác biệt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93762" y="3132887"/>
            <a:ext cx="16172078" cy="45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651">
                <a:solidFill>
                  <a:srgbClr val="C9D6FF"/>
                </a:solidFill>
                <a:latin typeface="Inter"/>
                <a:ea typeface="Inter"/>
                <a:cs typeface="Inter"/>
                <a:sym typeface="Inter"/>
              </a:rPr>
              <a:t>Nền tảng quản trị doanh nghiệp tích hợp AI của Việt Nam, đồng hành cùng hàng nghìn doanh nghiệp.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93762" y="4854664"/>
            <a:ext cx="4460796" cy="93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sz="5518" b="true">
                <a:solidFill>
                  <a:srgbClr val="FFD966"/>
                </a:solidFill>
                <a:latin typeface="Inter Bold"/>
                <a:ea typeface="Inter Bold"/>
                <a:cs typeface="Inter Bold"/>
                <a:sym typeface="Inter Bold"/>
              </a:rPr>
              <a:t>10+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09398" y="5901185"/>
            <a:ext cx="4029542" cy="84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25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năm đồng hành</a:t>
            </a:r>
          </a:p>
          <a:p>
            <a:pPr algn="ctr">
              <a:lnSpc>
                <a:spcPts val="3395"/>
              </a:lnSpc>
            </a:pPr>
            <a:r>
              <a:rPr lang="en-US" sz="25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từ tháng 8/2016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078007" y="4854664"/>
            <a:ext cx="4460796" cy="93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sz="5518" b="true">
                <a:solidFill>
                  <a:srgbClr val="FFD966"/>
                </a:solidFill>
                <a:latin typeface="Inter Bold"/>
                <a:ea typeface="Inter Bold"/>
                <a:cs typeface="Inter Bold"/>
                <a:sym typeface="Inter Bold"/>
              </a:rPr>
              <a:t>12.000+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293634" y="5901185"/>
            <a:ext cx="4029542" cy="84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25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doanh nghiệp</a:t>
            </a:r>
          </a:p>
          <a:p>
            <a:pPr algn="ctr">
              <a:lnSpc>
                <a:spcPts val="3395"/>
              </a:lnSpc>
            </a:pPr>
            <a:r>
              <a:rPr lang="en-US" sz="25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đang sử dụng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862243" y="4854664"/>
            <a:ext cx="4460796" cy="93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sz="5518" b="true">
                <a:solidFill>
                  <a:srgbClr val="FFD966"/>
                </a:solidFill>
                <a:latin typeface="Inter Bold"/>
                <a:ea typeface="Inter Bold"/>
                <a:cs typeface="Inter Bold"/>
                <a:sym typeface="Inter Bold"/>
              </a:rPr>
              <a:t>100+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077880" y="5901185"/>
            <a:ext cx="4029542" cy="84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25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ứng dụng quản trị</a:t>
            </a:r>
          </a:p>
          <a:p>
            <a:pPr algn="ctr">
              <a:lnSpc>
                <a:spcPts val="3395"/>
              </a:lnSpc>
            </a:pPr>
            <a:r>
              <a:rPr lang="en-US" sz="25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trên một nền tảng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646489" y="4854664"/>
            <a:ext cx="4460796" cy="93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sz="5518" b="true">
                <a:solidFill>
                  <a:srgbClr val="FFD966"/>
                </a:solidFill>
                <a:latin typeface="Inter Bold"/>
                <a:ea typeface="Inter Bold"/>
                <a:cs typeface="Inter Bold"/>
                <a:sym typeface="Inter Bold"/>
              </a:rPr>
              <a:t>21 triệu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862116" y="5901185"/>
            <a:ext cx="4029542" cy="84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25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đề xuất đã được</a:t>
            </a:r>
          </a:p>
          <a:p>
            <a:pPr algn="ctr">
              <a:lnSpc>
                <a:spcPts val="3395"/>
              </a:lnSpc>
            </a:pPr>
            <a:r>
              <a:rPr lang="en-US" sz="25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duyệt trên Base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93762" y="7749835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Ba nền tảng, tích hợp AI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25025" y="8810539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Work+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725025" y="9465326"/>
            <a:ext cx="5121154" cy="89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Giao việc, đề xuất, quy trình, văn phòng điện tử, ký số, họp.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139951" y="8810539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HRM+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139951" y="9465326"/>
            <a:ext cx="5121154" cy="89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Hồ sơ nhân sự, chấm công, tính lương, đánh giá.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554876" y="8810539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CRM+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554876" y="9465326"/>
            <a:ext cx="5121154" cy="89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Khách hàng, hợp đồng, bán hàng, quản lý phân phối.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93762" y="12062384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An toàn và mở kết nối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725025" y="13150053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021510" y="13150053"/>
            <a:ext cx="8328622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Chứng nhận ISO 27001:2022 và ISO 9001:2015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725025" y="13799630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021510" y="13799630"/>
            <a:ext cx="8328622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Kiểm thử xâm nhập (Pentest) theo OWASP, OSSTMM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725025" y="14449206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021510" y="14449206"/>
            <a:ext cx="8328622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Hạ tầng Google Cloud, sao lưu hằng ngày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997013" y="13150053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293507" y="13150053"/>
            <a:ext cx="8328622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Xác thực 2 lớp, phân quyền chi tiết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997013" y="13799630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293507" y="13799630"/>
            <a:ext cx="8328622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Nhật ký truy cập đầy đủ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997013" y="14449206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293507" y="14449206"/>
            <a:ext cx="8328622" cy="85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Cổng API, đường ống dữ liệu, Power BI và đội Data Engineer của Base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293762" y="17399175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Doanh nghiệp đang tin dùng Base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93762" y="21118754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Giải thưởng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617212" y="22152512"/>
            <a:ext cx="5408666" cy="47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5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APEA 2023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617212" y="22818442"/>
            <a:ext cx="5408666" cy="38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334">
                <a:solidFill>
                  <a:srgbClr val="4A587A"/>
                </a:solidFill>
                <a:latin typeface="Inter"/>
                <a:ea typeface="Inter"/>
                <a:cs typeface="Inter"/>
                <a:sym typeface="Inter"/>
              </a:rPr>
              <a:t>Asia Pacific Enterprise Awards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996190" y="22152512"/>
            <a:ext cx="5408666" cy="47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5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Make in Vietnam 2020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996190" y="22818442"/>
            <a:ext cx="5408666" cy="38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334">
                <a:solidFill>
                  <a:srgbClr val="4A587A"/>
                </a:solidFill>
                <a:latin typeface="Inter"/>
                <a:ea typeface="Inter"/>
                <a:cs typeface="Inter"/>
                <a:sym typeface="Inter"/>
              </a:rPr>
              <a:t>Giải Nhất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4375178" y="22152512"/>
            <a:ext cx="5408666" cy="47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5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ASOCIO 2022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375178" y="22818442"/>
            <a:ext cx="5408666" cy="38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334">
                <a:solidFill>
                  <a:srgbClr val="4A587A"/>
                </a:solidFill>
                <a:latin typeface="Inter"/>
                <a:ea typeface="Inter"/>
                <a:cs typeface="Inter"/>
                <a:sym typeface="Inter"/>
              </a:rPr>
              <a:t>Giải thưởng công nghệ khu vực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93762" y="24128016"/>
            <a:ext cx="18813523" cy="44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Top 1 về chất lượng dịch vụ 2 năm liên tiếp </a:t>
            </a: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theo khảo sát 500 doanh nghiệp do IDG thực hiện (tháng 1 đến 6/2025).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293762" y="29223843"/>
            <a:ext cx="6388117" cy="39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4A587A"/>
                </a:solidFill>
                <a:latin typeface="Inter"/>
                <a:ea typeface="Inter"/>
                <a:cs typeface="Inter"/>
                <a:sym typeface="Inter"/>
              </a:rPr>
              <a:t>Base.vn · Dành cho Ban Lãnh đạo VB Holdings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9501415" y="29223843"/>
            <a:ext cx="605879" cy="39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8"/>
              </a:lnSpc>
            </a:pP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401056" cy="4043020"/>
            <a:chOff x="0" y="0"/>
            <a:chExt cx="28534741" cy="5390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4742" cy="5390642"/>
            </a:xfrm>
            <a:custGeom>
              <a:avLst/>
              <a:gdLst/>
              <a:ahLst/>
              <a:cxnLst/>
              <a:rect r="r" b="b" t="t" l="l"/>
              <a:pathLst>
                <a:path h="5390642" w="28534742">
                  <a:moveTo>
                    <a:pt x="0" y="0"/>
                  </a:moveTo>
                  <a:lnTo>
                    <a:pt x="28534742" y="0"/>
                  </a:lnTo>
                  <a:lnTo>
                    <a:pt x="28534742" y="5390642"/>
                  </a:lnTo>
                  <a:lnTo>
                    <a:pt x="0" y="5390642"/>
                  </a:ln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0223" y="808606"/>
            <a:ext cx="2857071" cy="1078135"/>
            <a:chOff x="0" y="0"/>
            <a:chExt cx="3809428" cy="14375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09492" cy="1437513"/>
            </a:xfrm>
            <a:custGeom>
              <a:avLst/>
              <a:gdLst/>
              <a:ahLst/>
              <a:cxnLst/>
              <a:rect r="r" b="b" t="t" l="l"/>
              <a:pathLst>
                <a:path h="1437513" w="380949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3521964" y="0"/>
                  </a:lnTo>
                  <a:cubicBezTo>
                    <a:pt x="3680714" y="0"/>
                    <a:pt x="3809492" y="128778"/>
                    <a:pt x="3809492" y="287528"/>
                  </a:cubicBezTo>
                  <a:lnTo>
                    <a:pt x="3809492" y="1149985"/>
                  </a:lnTo>
                  <a:cubicBezTo>
                    <a:pt x="3809492" y="1308735"/>
                    <a:pt x="3680714" y="1437513"/>
                    <a:pt x="3521964" y="1437513"/>
                  </a:cubicBezTo>
                  <a:lnTo>
                    <a:pt x="287528" y="1437513"/>
                  </a:lnTo>
                  <a:cubicBezTo>
                    <a:pt x="128778" y="1437513"/>
                    <a:pt x="0" y="1308735"/>
                    <a:pt x="0" y="11499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411938" y="916419"/>
            <a:ext cx="2533621" cy="862508"/>
            <a:chOff x="0" y="0"/>
            <a:chExt cx="3378162" cy="1150010"/>
          </a:xfrm>
        </p:grpSpPr>
        <p:sp>
          <p:nvSpPr>
            <p:cNvPr name="Freeform 7" id="7" descr="i3.png"/>
            <p:cNvSpPr/>
            <p:nvPr/>
          </p:nvSpPr>
          <p:spPr>
            <a:xfrm flipH="false" flipV="false" rot="0">
              <a:off x="0" y="0"/>
              <a:ext cx="3378200" cy="1149985"/>
            </a:xfrm>
            <a:custGeom>
              <a:avLst/>
              <a:gdLst/>
              <a:ahLst/>
              <a:cxnLst/>
              <a:rect r="r" b="b" t="t" l="l"/>
              <a:pathLst>
                <a:path h="1149985" w="3378200">
                  <a:moveTo>
                    <a:pt x="0" y="0"/>
                  </a:moveTo>
                  <a:lnTo>
                    <a:pt x="3378200" y="0"/>
                  </a:lnTo>
                  <a:lnTo>
                    <a:pt x="3378200" y="1149985"/>
                  </a:lnTo>
                  <a:lnTo>
                    <a:pt x="0" y="1149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3762" y="4582087"/>
            <a:ext cx="18813523" cy="4582087"/>
            <a:chOff x="0" y="0"/>
            <a:chExt cx="25084697" cy="61094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084658" cy="6109462"/>
            </a:xfrm>
            <a:custGeom>
              <a:avLst/>
              <a:gdLst/>
              <a:ahLst/>
              <a:cxnLst/>
              <a:rect r="r" b="b" t="t" l="l"/>
              <a:pathLst>
                <a:path h="6109462" w="25084658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24653494" y="0"/>
                  </a:lnTo>
                  <a:cubicBezTo>
                    <a:pt x="24891619" y="0"/>
                    <a:pt x="25084658" y="193040"/>
                    <a:pt x="25084658" y="431165"/>
                  </a:cubicBezTo>
                  <a:lnTo>
                    <a:pt x="25084658" y="5678297"/>
                  </a:lnTo>
                  <a:cubicBezTo>
                    <a:pt x="25084658" y="5916422"/>
                    <a:pt x="24891619" y="6109462"/>
                    <a:pt x="24653494" y="6109462"/>
                  </a:cubicBezTo>
                  <a:lnTo>
                    <a:pt x="431165" y="6109462"/>
                  </a:lnTo>
                  <a:cubicBezTo>
                    <a:pt x="193040" y="6109462"/>
                    <a:pt x="0" y="5916422"/>
                    <a:pt x="0" y="5678297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7636" y="4945961"/>
            <a:ext cx="3530908" cy="3854348"/>
            <a:chOff x="0" y="0"/>
            <a:chExt cx="4707877" cy="51391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07890" cy="5139182"/>
            </a:xfrm>
            <a:custGeom>
              <a:avLst/>
              <a:gdLst/>
              <a:ahLst/>
              <a:cxnLst/>
              <a:rect r="r" b="b" t="t" l="l"/>
              <a:pathLst>
                <a:path h="5139182" w="4707890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4418203" y="0"/>
                  </a:lnTo>
                  <a:cubicBezTo>
                    <a:pt x="4578223" y="0"/>
                    <a:pt x="4707890" y="129667"/>
                    <a:pt x="4707890" y="289687"/>
                  </a:cubicBezTo>
                  <a:lnTo>
                    <a:pt x="4707890" y="4849495"/>
                  </a:lnTo>
                  <a:cubicBezTo>
                    <a:pt x="4707890" y="5009515"/>
                    <a:pt x="4578223" y="5139182"/>
                    <a:pt x="4418203" y="5139182"/>
                  </a:cubicBezTo>
                  <a:lnTo>
                    <a:pt x="289687" y="5139182"/>
                  </a:lnTo>
                  <a:cubicBezTo>
                    <a:pt x="129667" y="5139182"/>
                    <a:pt x="0" y="5009388"/>
                    <a:pt x="0" y="4849495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51971" y="5040297"/>
            <a:ext cx="3342227" cy="3665668"/>
            <a:chOff x="0" y="0"/>
            <a:chExt cx="4456303" cy="4887557"/>
          </a:xfrm>
        </p:grpSpPr>
        <p:sp>
          <p:nvSpPr>
            <p:cNvPr name="Freeform 13" id="13" descr="i11.png"/>
            <p:cNvSpPr/>
            <p:nvPr/>
          </p:nvSpPr>
          <p:spPr>
            <a:xfrm flipH="false" flipV="false" rot="0">
              <a:off x="0" y="0"/>
              <a:ext cx="4456303" cy="4887595"/>
            </a:xfrm>
            <a:custGeom>
              <a:avLst/>
              <a:gdLst/>
              <a:ahLst/>
              <a:cxnLst/>
              <a:rect r="r" b="b" t="t" l="l"/>
              <a:pathLst>
                <a:path h="4887595" w="4456303">
                  <a:moveTo>
                    <a:pt x="0" y="0"/>
                  </a:moveTo>
                  <a:lnTo>
                    <a:pt x="4456303" y="0"/>
                  </a:lnTo>
                  <a:lnTo>
                    <a:pt x="4456303" y="4887595"/>
                  </a:lnTo>
                  <a:lnTo>
                    <a:pt x="0" y="4887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93762" y="9487624"/>
            <a:ext cx="18813523" cy="4582087"/>
            <a:chOff x="0" y="0"/>
            <a:chExt cx="25084697" cy="61094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084658" cy="6109462"/>
            </a:xfrm>
            <a:custGeom>
              <a:avLst/>
              <a:gdLst/>
              <a:ahLst/>
              <a:cxnLst/>
              <a:rect r="r" b="b" t="t" l="l"/>
              <a:pathLst>
                <a:path h="6109462" w="25084658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24653494" y="0"/>
                  </a:lnTo>
                  <a:cubicBezTo>
                    <a:pt x="24891619" y="0"/>
                    <a:pt x="25084658" y="193040"/>
                    <a:pt x="25084658" y="431165"/>
                  </a:cubicBezTo>
                  <a:lnTo>
                    <a:pt x="25084658" y="5678297"/>
                  </a:lnTo>
                  <a:cubicBezTo>
                    <a:pt x="25084658" y="5916422"/>
                    <a:pt x="24891619" y="6109462"/>
                    <a:pt x="24653494" y="6109462"/>
                  </a:cubicBezTo>
                  <a:lnTo>
                    <a:pt x="431165" y="6109462"/>
                  </a:lnTo>
                  <a:cubicBezTo>
                    <a:pt x="193040" y="6109462"/>
                    <a:pt x="0" y="5916422"/>
                    <a:pt x="0" y="5678297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57636" y="9851488"/>
            <a:ext cx="3530908" cy="3854348"/>
            <a:chOff x="0" y="0"/>
            <a:chExt cx="4707877" cy="51391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07890" cy="5139182"/>
            </a:xfrm>
            <a:custGeom>
              <a:avLst/>
              <a:gdLst/>
              <a:ahLst/>
              <a:cxnLst/>
              <a:rect r="r" b="b" t="t" l="l"/>
              <a:pathLst>
                <a:path h="5139182" w="4707890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4418203" y="0"/>
                  </a:lnTo>
                  <a:cubicBezTo>
                    <a:pt x="4578223" y="0"/>
                    <a:pt x="4707890" y="129667"/>
                    <a:pt x="4707890" y="289687"/>
                  </a:cubicBezTo>
                  <a:lnTo>
                    <a:pt x="4707890" y="4849495"/>
                  </a:lnTo>
                  <a:cubicBezTo>
                    <a:pt x="4707890" y="5009515"/>
                    <a:pt x="4578223" y="5139182"/>
                    <a:pt x="4418203" y="5139182"/>
                  </a:cubicBezTo>
                  <a:lnTo>
                    <a:pt x="289687" y="5139182"/>
                  </a:lnTo>
                  <a:cubicBezTo>
                    <a:pt x="129667" y="5139182"/>
                    <a:pt x="0" y="5009388"/>
                    <a:pt x="0" y="4849495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751971" y="9945834"/>
            <a:ext cx="3342227" cy="3665668"/>
            <a:chOff x="0" y="0"/>
            <a:chExt cx="4456303" cy="4887557"/>
          </a:xfrm>
        </p:grpSpPr>
        <p:sp>
          <p:nvSpPr>
            <p:cNvPr name="Freeform 19" id="19" descr="i12.png"/>
            <p:cNvSpPr/>
            <p:nvPr/>
          </p:nvSpPr>
          <p:spPr>
            <a:xfrm flipH="false" flipV="false" rot="0">
              <a:off x="0" y="0"/>
              <a:ext cx="4456303" cy="4887595"/>
            </a:xfrm>
            <a:custGeom>
              <a:avLst/>
              <a:gdLst/>
              <a:ahLst/>
              <a:cxnLst/>
              <a:rect r="r" b="b" t="t" l="l"/>
              <a:pathLst>
                <a:path h="4887595" w="4456303">
                  <a:moveTo>
                    <a:pt x="0" y="0"/>
                  </a:moveTo>
                  <a:lnTo>
                    <a:pt x="4456303" y="0"/>
                  </a:lnTo>
                  <a:lnTo>
                    <a:pt x="4456303" y="4887595"/>
                  </a:lnTo>
                  <a:lnTo>
                    <a:pt x="0" y="4887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93762" y="14393151"/>
            <a:ext cx="18813523" cy="4582087"/>
            <a:chOff x="0" y="0"/>
            <a:chExt cx="25084697" cy="61094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084658" cy="6109462"/>
            </a:xfrm>
            <a:custGeom>
              <a:avLst/>
              <a:gdLst/>
              <a:ahLst/>
              <a:cxnLst/>
              <a:rect r="r" b="b" t="t" l="l"/>
              <a:pathLst>
                <a:path h="6109462" w="25084658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24653494" y="0"/>
                  </a:lnTo>
                  <a:cubicBezTo>
                    <a:pt x="24891619" y="0"/>
                    <a:pt x="25084658" y="193040"/>
                    <a:pt x="25084658" y="431165"/>
                  </a:cubicBezTo>
                  <a:lnTo>
                    <a:pt x="25084658" y="5678297"/>
                  </a:lnTo>
                  <a:cubicBezTo>
                    <a:pt x="25084658" y="5916422"/>
                    <a:pt x="24891619" y="6109462"/>
                    <a:pt x="24653494" y="6109462"/>
                  </a:cubicBezTo>
                  <a:lnTo>
                    <a:pt x="431165" y="6109462"/>
                  </a:lnTo>
                  <a:cubicBezTo>
                    <a:pt x="193040" y="6109462"/>
                    <a:pt x="0" y="5916422"/>
                    <a:pt x="0" y="5678297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7636" y="14757025"/>
            <a:ext cx="3530908" cy="3854348"/>
            <a:chOff x="0" y="0"/>
            <a:chExt cx="4707877" cy="51391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07890" cy="5139182"/>
            </a:xfrm>
            <a:custGeom>
              <a:avLst/>
              <a:gdLst/>
              <a:ahLst/>
              <a:cxnLst/>
              <a:rect r="r" b="b" t="t" l="l"/>
              <a:pathLst>
                <a:path h="5139182" w="4707890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4418203" y="0"/>
                  </a:lnTo>
                  <a:cubicBezTo>
                    <a:pt x="4578223" y="0"/>
                    <a:pt x="4707890" y="129667"/>
                    <a:pt x="4707890" y="289687"/>
                  </a:cubicBezTo>
                  <a:lnTo>
                    <a:pt x="4707890" y="4849495"/>
                  </a:lnTo>
                  <a:cubicBezTo>
                    <a:pt x="4707890" y="5009515"/>
                    <a:pt x="4578223" y="5139182"/>
                    <a:pt x="4418203" y="5139182"/>
                  </a:cubicBezTo>
                  <a:lnTo>
                    <a:pt x="289687" y="5139182"/>
                  </a:lnTo>
                  <a:cubicBezTo>
                    <a:pt x="129667" y="5139182"/>
                    <a:pt x="0" y="5009388"/>
                    <a:pt x="0" y="4849495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751971" y="14851361"/>
            <a:ext cx="3342227" cy="3665668"/>
            <a:chOff x="0" y="0"/>
            <a:chExt cx="4456303" cy="4887557"/>
          </a:xfrm>
        </p:grpSpPr>
        <p:sp>
          <p:nvSpPr>
            <p:cNvPr name="Freeform 25" id="25" descr="i13.png"/>
            <p:cNvSpPr/>
            <p:nvPr/>
          </p:nvSpPr>
          <p:spPr>
            <a:xfrm flipH="false" flipV="false" rot="0">
              <a:off x="0" y="0"/>
              <a:ext cx="4456303" cy="4887595"/>
            </a:xfrm>
            <a:custGeom>
              <a:avLst/>
              <a:gdLst/>
              <a:ahLst/>
              <a:cxnLst/>
              <a:rect r="r" b="b" t="t" l="l"/>
              <a:pathLst>
                <a:path h="4887595" w="4456303">
                  <a:moveTo>
                    <a:pt x="0" y="0"/>
                  </a:moveTo>
                  <a:lnTo>
                    <a:pt x="4456303" y="0"/>
                  </a:lnTo>
                  <a:lnTo>
                    <a:pt x="4456303" y="4887595"/>
                  </a:lnTo>
                  <a:lnTo>
                    <a:pt x="0" y="4887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0293" y="20147718"/>
            <a:ext cx="3617157" cy="1913696"/>
            <a:chOff x="0" y="0"/>
            <a:chExt cx="4822876" cy="25515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22825" cy="2551557"/>
            </a:xfrm>
            <a:custGeom>
              <a:avLst/>
              <a:gdLst/>
              <a:ahLst/>
              <a:cxnLst/>
              <a:rect r="r" b="b" t="t" l="l"/>
              <a:pathLst>
                <a:path h="2551557" w="4822825">
                  <a:moveTo>
                    <a:pt x="0" y="291592"/>
                  </a:moveTo>
                  <a:cubicBezTo>
                    <a:pt x="0" y="130556"/>
                    <a:pt x="130556" y="0"/>
                    <a:pt x="291592" y="0"/>
                  </a:cubicBezTo>
                  <a:lnTo>
                    <a:pt x="4531233" y="0"/>
                  </a:lnTo>
                  <a:cubicBezTo>
                    <a:pt x="4692269" y="0"/>
                    <a:pt x="4822825" y="130556"/>
                    <a:pt x="4822825" y="291592"/>
                  </a:cubicBezTo>
                  <a:lnTo>
                    <a:pt x="4822825" y="2259965"/>
                  </a:lnTo>
                  <a:cubicBezTo>
                    <a:pt x="4822825" y="2421001"/>
                    <a:pt x="4692269" y="2551557"/>
                    <a:pt x="4531233" y="2551557"/>
                  </a:cubicBezTo>
                  <a:lnTo>
                    <a:pt x="291592" y="2551557"/>
                  </a:lnTo>
                  <a:cubicBezTo>
                    <a:pt x="130556" y="2551557"/>
                    <a:pt x="0" y="2421001"/>
                    <a:pt x="0" y="2259965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74629" y="20242054"/>
            <a:ext cx="3428486" cy="1725025"/>
            <a:chOff x="0" y="0"/>
            <a:chExt cx="4571314" cy="2300034"/>
          </a:xfrm>
        </p:grpSpPr>
        <p:sp>
          <p:nvSpPr>
            <p:cNvPr name="Freeform 29" id="29" descr="i14.png"/>
            <p:cNvSpPr/>
            <p:nvPr/>
          </p:nvSpPr>
          <p:spPr>
            <a:xfrm flipH="false" flipV="false" rot="0">
              <a:off x="0" y="0"/>
              <a:ext cx="4571365" cy="2299970"/>
            </a:xfrm>
            <a:custGeom>
              <a:avLst/>
              <a:gdLst/>
              <a:ahLst/>
              <a:cxnLst/>
              <a:rect r="r" b="b" t="t" l="l"/>
              <a:pathLst>
                <a:path h="2299970" w="4571365">
                  <a:moveTo>
                    <a:pt x="0" y="0"/>
                  </a:moveTo>
                  <a:lnTo>
                    <a:pt x="4571365" y="0"/>
                  </a:lnTo>
                  <a:lnTo>
                    <a:pt x="4571365" y="2299970"/>
                  </a:lnTo>
                  <a:lnTo>
                    <a:pt x="0" y="229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8" r="1" b="-8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086121" y="20147718"/>
            <a:ext cx="3617157" cy="1913696"/>
            <a:chOff x="0" y="0"/>
            <a:chExt cx="4822876" cy="25515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22825" cy="2551557"/>
            </a:xfrm>
            <a:custGeom>
              <a:avLst/>
              <a:gdLst/>
              <a:ahLst/>
              <a:cxnLst/>
              <a:rect r="r" b="b" t="t" l="l"/>
              <a:pathLst>
                <a:path h="2551557" w="4822825">
                  <a:moveTo>
                    <a:pt x="0" y="291592"/>
                  </a:moveTo>
                  <a:cubicBezTo>
                    <a:pt x="0" y="130556"/>
                    <a:pt x="130556" y="0"/>
                    <a:pt x="291592" y="0"/>
                  </a:cubicBezTo>
                  <a:lnTo>
                    <a:pt x="4531233" y="0"/>
                  </a:lnTo>
                  <a:cubicBezTo>
                    <a:pt x="4692269" y="0"/>
                    <a:pt x="4822825" y="130556"/>
                    <a:pt x="4822825" y="291592"/>
                  </a:cubicBezTo>
                  <a:lnTo>
                    <a:pt x="4822825" y="2259965"/>
                  </a:lnTo>
                  <a:cubicBezTo>
                    <a:pt x="4822825" y="2421001"/>
                    <a:pt x="4692269" y="2551557"/>
                    <a:pt x="4531233" y="2551557"/>
                  </a:cubicBezTo>
                  <a:lnTo>
                    <a:pt x="291592" y="2551557"/>
                  </a:lnTo>
                  <a:cubicBezTo>
                    <a:pt x="130556" y="2551557"/>
                    <a:pt x="0" y="2421001"/>
                    <a:pt x="0" y="2259965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891949" y="20147718"/>
            <a:ext cx="3617157" cy="1913696"/>
            <a:chOff x="0" y="0"/>
            <a:chExt cx="4822876" cy="25515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22825" cy="2551557"/>
            </a:xfrm>
            <a:custGeom>
              <a:avLst/>
              <a:gdLst/>
              <a:ahLst/>
              <a:cxnLst/>
              <a:rect r="r" b="b" t="t" l="l"/>
              <a:pathLst>
                <a:path h="2551557" w="4822825">
                  <a:moveTo>
                    <a:pt x="0" y="291592"/>
                  </a:moveTo>
                  <a:cubicBezTo>
                    <a:pt x="0" y="130556"/>
                    <a:pt x="130556" y="0"/>
                    <a:pt x="291592" y="0"/>
                  </a:cubicBezTo>
                  <a:lnTo>
                    <a:pt x="4531233" y="0"/>
                  </a:lnTo>
                  <a:cubicBezTo>
                    <a:pt x="4692269" y="0"/>
                    <a:pt x="4822825" y="130556"/>
                    <a:pt x="4822825" y="291592"/>
                  </a:cubicBezTo>
                  <a:lnTo>
                    <a:pt x="4822825" y="2259965"/>
                  </a:lnTo>
                  <a:cubicBezTo>
                    <a:pt x="4822825" y="2421001"/>
                    <a:pt x="4692269" y="2551557"/>
                    <a:pt x="4531233" y="2551557"/>
                  </a:cubicBezTo>
                  <a:lnTo>
                    <a:pt x="291592" y="2551557"/>
                  </a:lnTo>
                  <a:cubicBezTo>
                    <a:pt x="130556" y="2551557"/>
                    <a:pt x="0" y="2421001"/>
                    <a:pt x="0" y="2259965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986285" y="20242054"/>
            <a:ext cx="3428486" cy="1725025"/>
            <a:chOff x="0" y="0"/>
            <a:chExt cx="4571314" cy="2300034"/>
          </a:xfrm>
        </p:grpSpPr>
        <p:sp>
          <p:nvSpPr>
            <p:cNvPr name="Freeform 35" id="35" descr="i16.png"/>
            <p:cNvSpPr/>
            <p:nvPr/>
          </p:nvSpPr>
          <p:spPr>
            <a:xfrm flipH="false" flipV="false" rot="0">
              <a:off x="0" y="0"/>
              <a:ext cx="4571365" cy="2299970"/>
            </a:xfrm>
            <a:custGeom>
              <a:avLst/>
              <a:gdLst/>
              <a:ahLst/>
              <a:cxnLst/>
              <a:rect r="r" b="b" t="t" l="l"/>
              <a:pathLst>
                <a:path h="2299970" w="4571365">
                  <a:moveTo>
                    <a:pt x="0" y="0"/>
                  </a:moveTo>
                  <a:lnTo>
                    <a:pt x="4571365" y="0"/>
                  </a:lnTo>
                  <a:lnTo>
                    <a:pt x="4571365" y="2299970"/>
                  </a:lnTo>
                  <a:lnTo>
                    <a:pt x="0" y="229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8" r="1" b="-81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711255" y="20161196"/>
            <a:ext cx="7396029" cy="1886741"/>
            <a:chOff x="0" y="0"/>
            <a:chExt cx="9861372" cy="25156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61423" cy="2515743"/>
            </a:xfrm>
            <a:custGeom>
              <a:avLst/>
              <a:gdLst/>
              <a:ahLst/>
              <a:cxnLst/>
              <a:rect r="r" b="b" t="t" l="l"/>
              <a:pathLst>
                <a:path h="2515743" w="9861423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9502013" y="0"/>
                  </a:lnTo>
                  <a:cubicBezTo>
                    <a:pt x="9700514" y="0"/>
                    <a:pt x="9861423" y="160909"/>
                    <a:pt x="9861423" y="359410"/>
                  </a:cubicBezTo>
                  <a:lnTo>
                    <a:pt x="9861423" y="2156333"/>
                  </a:lnTo>
                  <a:cubicBezTo>
                    <a:pt x="9861423" y="2354834"/>
                    <a:pt x="9700514" y="2515743"/>
                    <a:pt x="9502013" y="2515743"/>
                  </a:cubicBezTo>
                  <a:lnTo>
                    <a:pt x="359410" y="2515743"/>
                  </a:lnTo>
                  <a:cubicBezTo>
                    <a:pt x="160909" y="2515743"/>
                    <a:pt x="0" y="2354834"/>
                    <a:pt x="0" y="215633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980794" y="20161196"/>
            <a:ext cx="6856962" cy="1886743"/>
            <a:chOff x="0" y="0"/>
            <a:chExt cx="9142616" cy="251565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2616" cy="2515660"/>
            </a:xfrm>
            <a:custGeom>
              <a:avLst/>
              <a:gdLst/>
              <a:ahLst/>
              <a:cxnLst/>
              <a:rect r="r" b="b" t="t" l="l"/>
              <a:pathLst>
                <a:path h="2515660" w="9142616">
                  <a:moveTo>
                    <a:pt x="0" y="0"/>
                  </a:moveTo>
                  <a:lnTo>
                    <a:pt x="9142616" y="0"/>
                  </a:lnTo>
                  <a:lnTo>
                    <a:pt x="9142616" y="2515660"/>
                  </a:lnTo>
                  <a:lnTo>
                    <a:pt x="0" y="25156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814" r="0" b="-2081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142616" cy="255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83"/>
                </a:lnSpc>
              </a:pPr>
              <a:r>
                <a:rPr lang="en-US" sz="233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100+ khách hàng triển khai cùng đội Professional Service của Base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5192570" y="20484460"/>
            <a:ext cx="3404104" cy="1127187"/>
          </a:xfrm>
          <a:custGeom>
            <a:avLst/>
            <a:gdLst/>
            <a:ahLst/>
            <a:cxnLst/>
            <a:rect r="r" b="b" t="t" l="l"/>
            <a:pathLst>
              <a:path h="1127187" w="3404104">
                <a:moveTo>
                  <a:pt x="0" y="0"/>
                </a:moveTo>
                <a:lnTo>
                  <a:pt x="3404104" y="0"/>
                </a:lnTo>
                <a:lnTo>
                  <a:pt x="3404104" y="1127187"/>
                </a:lnTo>
                <a:lnTo>
                  <a:pt x="0" y="11271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293762" y="922696"/>
            <a:ext cx="15093944" cy="4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b="true" sz="2546" spc="297">
                <a:solidFill>
                  <a:srgbClr val="23BFFF"/>
                </a:solidFill>
                <a:latin typeface="Inter Bold"/>
                <a:ea typeface="Inter Bold"/>
                <a:cs typeface="Inter Bold"/>
                <a:sym typeface="Inter Bold"/>
              </a:rPr>
              <a:t>KINH NGHIỆM THỰC TIỄN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93762" y="1417387"/>
            <a:ext cx="15902549" cy="87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3"/>
              </a:lnSpc>
            </a:pPr>
            <a:r>
              <a:rPr lang="en-US" sz="551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Chủ đầu tư KCN đồng hành cùng Base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93762" y="3132887"/>
            <a:ext cx="16172078" cy="45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651">
                <a:solidFill>
                  <a:srgbClr val="C9D6FF"/>
                </a:solidFill>
                <a:latin typeface="Inter"/>
                <a:ea typeface="Inter"/>
                <a:cs typeface="Inter"/>
                <a:sym typeface="Inter"/>
              </a:rPr>
              <a:t>Các đơn vị cùng ngành đã số hoá vận hành toàn diện trên Base.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606320" y="4838852"/>
            <a:ext cx="14069711" cy="49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863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Tổng công ty CP Shinec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606320" y="5450881"/>
            <a:ext cx="1406971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Hải Phòng  ·  100+ nhân sự  ·  Triển khai toàn diện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606320" y="6097762"/>
            <a:ext cx="14069711" cy="80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34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Đầu tư xây dựng và kinh doanh hạ tầng KCN, CCN theo định hướng sinh thái; dự án chính KCN Nam Cầu Kiền (457 ha).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606320" y="7391533"/>
            <a:ext cx="2589527" cy="39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Bài toán đã số hoá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606320" y="7822787"/>
            <a:ext cx="14069711" cy="80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34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Số hoá luồng công việc và phê duyệt, bảo trì hạ tầng, bảo dưỡng cảnh quan KCN, phối hợp đa công ty thành viên.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06320" y="9744389"/>
            <a:ext cx="14069711" cy="49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863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CTCP Đầu tư Hạ tầng KCN Bảo Minh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606320" y="10356418"/>
            <a:ext cx="1406971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Nam Định, Thái Bình  ·  100+ nhân sự  ·  Triển khai toàn diện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606320" y="11003299"/>
            <a:ext cx="14069711" cy="39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34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Chủ đầu tư thành lập 2007, vận hành 3 KCN tại Nam Định và Thái Bình, thu hút khách thuê FDI.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606320" y="12297061"/>
            <a:ext cx="2589527" cy="39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Bài toán đã số hoá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606320" y="12728315"/>
            <a:ext cx="14069711" cy="80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34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Quản lý vận hành KCN đa địa điểm, quy trình liên phòng ban, vận hành nhà máy xử lý nước thải, thanh toán, tạm ứng, bảo trì hạ tầng.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606320" y="14649917"/>
            <a:ext cx="14069711" cy="49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863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TCT CP Phát triển KCN Sonadezi (SNZ)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606320" y="15261946"/>
            <a:ext cx="1406971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Đồng Nai  ·  300+ nhân sự  ·  Triển khai toàn diện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606320" y="15908826"/>
            <a:ext cx="14069711" cy="39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34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Bất động sản công nghiệp và dân dụng, xây dựng, dịch vụ hỗ trợ, cấp nước; nhiều công ty thành viên.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606320" y="17202598"/>
            <a:ext cx="2589527" cy="39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Bài toán đã số hoá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606320" y="17633852"/>
            <a:ext cx="14069711" cy="80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34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Số hoá luồng văn bản và phê duyệt thay giấy tờ thủ công, quy trình cho thuê nhà xưởng, phối hợp đa công ty thành viên.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93762" y="19393729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Cùng nhiều chủ đầu tư KCN khác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93762" y="29223843"/>
            <a:ext cx="6388117" cy="39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4A587A"/>
                </a:solidFill>
                <a:latin typeface="Inter"/>
                <a:ea typeface="Inter"/>
                <a:cs typeface="Inter"/>
                <a:sym typeface="Inter"/>
              </a:rPr>
              <a:t>Base.vn · Dành cho Ban Lãnh đạo VB Holdings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9496355" y="29223843"/>
            <a:ext cx="610939" cy="39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8"/>
              </a:lnSpc>
            </a:pP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3 / 7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79929" y="22593736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Danh mục số hoá tham khảo của CĐT BĐS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74400" y="23400000"/>
            <a:ext cx="4492800" cy="4608000"/>
            <a:chOff x="0" y="0"/>
            <a:chExt cx="5990400" cy="6144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990401" cy="6144003"/>
            </a:xfrm>
            <a:custGeom>
              <a:avLst/>
              <a:gdLst/>
              <a:ahLst/>
              <a:cxnLst/>
              <a:rect r="r" b="b" t="t" l="l"/>
              <a:pathLst>
                <a:path h="6144003" w="5990401">
                  <a:moveTo>
                    <a:pt x="0" y="0"/>
                  </a:moveTo>
                  <a:lnTo>
                    <a:pt x="5990401" y="0"/>
                  </a:lnTo>
                  <a:lnTo>
                    <a:pt x="5990401" y="6144003"/>
                  </a:lnTo>
                  <a:lnTo>
                    <a:pt x="0" y="6144003"/>
                  </a:lnTo>
                  <a:close/>
                </a:path>
              </a:pathLst>
            </a:custGeom>
            <a:solidFill>
              <a:srgbClr val="EEF3FC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5990400" cy="617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490400" y="23583225"/>
            <a:ext cx="4060800" cy="369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100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01. ĐẦU TƯ &amp; PHÁP LÝ DỰ ÁN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3578A"/>
                </a:solidFill>
                <a:latin typeface="Inter"/>
                <a:ea typeface="Inter"/>
                <a:cs typeface="Inter"/>
                <a:sym typeface="Inter"/>
              </a:rPr>
              <a:t>• Lập hồ sơ, đề xuất chủ trương đầu tư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3578A"/>
                </a:solidFill>
                <a:latin typeface="Inter"/>
                <a:ea typeface="Inter"/>
                <a:cs typeface="Inter"/>
                <a:sym typeface="Inter"/>
              </a:rPr>
              <a:t>• Thẩm định, phê duyệt dự án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3578A"/>
                </a:solidFill>
                <a:latin typeface="Inter"/>
                <a:ea typeface="Inter"/>
                <a:cs typeface="Inter"/>
                <a:sym typeface="Inter"/>
              </a:rPr>
              <a:t>• Cấp GCN quyền sử dụng đất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3578A"/>
                </a:solidFill>
                <a:latin typeface="Inter"/>
                <a:ea typeface="Inter"/>
                <a:cs typeface="Inter"/>
                <a:sym typeface="Inter"/>
              </a:rPr>
              <a:t>• Thu hồi, bồi thường, GPMB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3578A"/>
                </a:solidFill>
                <a:latin typeface="Inter"/>
                <a:ea typeface="Inter"/>
                <a:cs typeface="Inter"/>
                <a:sym typeface="Inter"/>
              </a:rPr>
              <a:t>• Đấu thầu, lựa chọn nhà thầu</a:t>
            </a:r>
          </a:p>
          <a:p>
            <a:pPr algn="l">
              <a:lnSpc>
                <a:spcPts val="3675"/>
              </a:lnSpc>
            </a:pPr>
          </a:p>
        </p:txBody>
      </p:sp>
      <p:grpSp>
        <p:nvGrpSpPr>
          <p:cNvPr name="Group 68" id="68"/>
          <p:cNvGrpSpPr/>
          <p:nvPr/>
        </p:nvGrpSpPr>
        <p:grpSpPr>
          <a:xfrm rot="0">
            <a:off x="6055200" y="23400000"/>
            <a:ext cx="4492800" cy="4608000"/>
            <a:chOff x="0" y="0"/>
            <a:chExt cx="5990400" cy="6144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990401" cy="6144003"/>
            </a:xfrm>
            <a:custGeom>
              <a:avLst/>
              <a:gdLst/>
              <a:ahLst/>
              <a:cxnLst/>
              <a:rect r="r" b="b" t="t" l="l"/>
              <a:pathLst>
                <a:path h="6144003" w="5990401">
                  <a:moveTo>
                    <a:pt x="0" y="0"/>
                  </a:moveTo>
                  <a:lnTo>
                    <a:pt x="5990401" y="0"/>
                  </a:lnTo>
                  <a:lnTo>
                    <a:pt x="5990401" y="6144003"/>
                  </a:lnTo>
                  <a:lnTo>
                    <a:pt x="0" y="6144003"/>
                  </a:lnTo>
                  <a:close/>
                </a:path>
              </a:pathLst>
            </a:custGeom>
            <a:solidFill>
              <a:srgbClr val="EEF3FC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5990400" cy="617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6271200" y="23583225"/>
            <a:ext cx="4060800" cy="322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100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02. THI CÔNG &amp; GIÁM SÁT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Lập, điều chỉnh tiến độ &amp; kế hoạch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Giám sát tiến độ thi công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Kiểm tra chất lượng công trình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Nghiệm thu hạng mục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Tạm ứng, thanh toán nhà thầu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0836000" y="23400000"/>
            <a:ext cx="4492800" cy="4608000"/>
            <a:chOff x="0" y="0"/>
            <a:chExt cx="5990400" cy="6144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990401" cy="6144003"/>
            </a:xfrm>
            <a:custGeom>
              <a:avLst/>
              <a:gdLst/>
              <a:ahLst/>
              <a:cxnLst/>
              <a:rect r="r" b="b" t="t" l="l"/>
              <a:pathLst>
                <a:path h="6144003" w="5990401">
                  <a:moveTo>
                    <a:pt x="0" y="0"/>
                  </a:moveTo>
                  <a:lnTo>
                    <a:pt x="5990401" y="0"/>
                  </a:lnTo>
                  <a:lnTo>
                    <a:pt x="5990401" y="6144003"/>
                  </a:lnTo>
                  <a:lnTo>
                    <a:pt x="0" y="6144003"/>
                  </a:lnTo>
                  <a:close/>
                </a:path>
              </a:pathLst>
            </a:custGeom>
            <a:solidFill>
              <a:srgbClr val="EEF3FC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5990400" cy="617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1052000" y="23583225"/>
            <a:ext cx="4060800" cy="369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100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03. KINH DOANH &amp; MUA HÀNG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Theo dõi đặt cọc theo tiến độ thanh toán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Bàn giao sổ đỏ, HĐ mua bán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Mua hàng, lựa chọn NCC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Phát hành đơn đặt hàng (PO)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Tạm ứng, hoàn ứng, thanh toán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5616800" y="23400000"/>
            <a:ext cx="4492800" cy="4608000"/>
            <a:chOff x="0" y="0"/>
            <a:chExt cx="5990400" cy="6144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990401" cy="6144003"/>
            </a:xfrm>
            <a:custGeom>
              <a:avLst/>
              <a:gdLst/>
              <a:ahLst/>
              <a:cxnLst/>
              <a:rect r="r" b="b" t="t" l="l"/>
              <a:pathLst>
                <a:path h="6144003" w="5990401">
                  <a:moveTo>
                    <a:pt x="0" y="0"/>
                  </a:moveTo>
                  <a:lnTo>
                    <a:pt x="5990401" y="0"/>
                  </a:lnTo>
                  <a:lnTo>
                    <a:pt x="5990401" y="6144003"/>
                  </a:lnTo>
                  <a:lnTo>
                    <a:pt x="0" y="6144003"/>
                  </a:lnTo>
                  <a:close/>
                </a:path>
              </a:pathLst>
            </a:custGeom>
            <a:solidFill>
              <a:srgbClr val="EEF3FC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5990400" cy="617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5832800" y="23583225"/>
            <a:ext cx="4060800" cy="369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100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04. HÀNH CHÍNH – NHÂN SỰ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Công văn đi/đến, ban hành tài liệu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Tuyển dụng, hội nhập, thử việc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Hồ sơ, HĐLĐ, chấm công, nghỉ phép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Tài sản, cấp phát thiết bị</a:t>
            </a:r>
          </a:p>
          <a:p>
            <a:pPr algn="l">
              <a:lnSpc>
                <a:spcPts val="3675"/>
              </a:lnSpc>
            </a:pPr>
            <a:r>
              <a:rPr lang="en-US" sz="2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Công tác, đặt xe, vé máy bay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401056" cy="4043020"/>
            <a:chOff x="0" y="0"/>
            <a:chExt cx="28534741" cy="5390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4742" cy="5390642"/>
            </a:xfrm>
            <a:custGeom>
              <a:avLst/>
              <a:gdLst/>
              <a:ahLst/>
              <a:cxnLst/>
              <a:rect r="r" b="b" t="t" l="l"/>
              <a:pathLst>
                <a:path h="5390642" w="28534742">
                  <a:moveTo>
                    <a:pt x="0" y="0"/>
                  </a:moveTo>
                  <a:lnTo>
                    <a:pt x="28534742" y="0"/>
                  </a:lnTo>
                  <a:lnTo>
                    <a:pt x="28534742" y="5390642"/>
                  </a:lnTo>
                  <a:lnTo>
                    <a:pt x="0" y="5390642"/>
                  </a:ln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3762" y="922696"/>
            <a:ext cx="15093944" cy="4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b="true" sz="2546" spc="297">
                <a:solidFill>
                  <a:srgbClr val="23BFFF"/>
                </a:solidFill>
                <a:latin typeface="Inter Bold"/>
                <a:ea typeface="Inter Bold"/>
                <a:cs typeface="Inter Bold"/>
                <a:sym typeface="Inter Bold"/>
              </a:rPr>
              <a:t>THẤU HIỂU VỀ ĐẶC THÌ VẬN HÀNH CỦA VB HOLDINGS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762" y="1417387"/>
            <a:ext cx="15902549" cy="87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3"/>
              </a:lnSpc>
            </a:pPr>
            <a:r>
              <a:rPr lang="en-US" sz="551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Bức tranh hoạt động của chủ đầu tư KCN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250223" y="808606"/>
            <a:ext cx="2857071" cy="1078135"/>
            <a:chOff x="0" y="0"/>
            <a:chExt cx="3809428" cy="1437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09492" cy="1437513"/>
            </a:xfrm>
            <a:custGeom>
              <a:avLst/>
              <a:gdLst/>
              <a:ahLst/>
              <a:cxnLst/>
              <a:rect r="r" b="b" t="t" l="l"/>
              <a:pathLst>
                <a:path h="1437513" w="380949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3521964" y="0"/>
                  </a:lnTo>
                  <a:cubicBezTo>
                    <a:pt x="3680714" y="0"/>
                    <a:pt x="3809492" y="128778"/>
                    <a:pt x="3809492" y="287528"/>
                  </a:cubicBezTo>
                  <a:lnTo>
                    <a:pt x="3809492" y="1149985"/>
                  </a:lnTo>
                  <a:cubicBezTo>
                    <a:pt x="3809492" y="1308735"/>
                    <a:pt x="3680714" y="1437513"/>
                    <a:pt x="3521964" y="1437513"/>
                  </a:cubicBezTo>
                  <a:lnTo>
                    <a:pt x="287528" y="1437513"/>
                  </a:lnTo>
                  <a:cubicBezTo>
                    <a:pt x="128778" y="1437513"/>
                    <a:pt x="0" y="1308735"/>
                    <a:pt x="0" y="11499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411938" y="916419"/>
            <a:ext cx="2533621" cy="862508"/>
            <a:chOff x="0" y="0"/>
            <a:chExt cx="3378162" cy="1150010"/>
          </a:xfrm>
        </p:grpSpPr>
        <p:sp>
          <p:nvSpPr>
            <p:cNvPr name="Freeform 9" id="9" descr="i3.png"/>
            <p:cNvSpPr/>
            <p:nvPr/>
          </p:nvSpPr>
          <p:spPr>
            <a:xfrm flipH="false" flipV="false" rot="0">
              <a:off x="0" y="0"/>
              <a:ext cx="3378200" cy="1149985"/>
            </a:xfrm>
            <a:custGeom>
              <a:avLst/>
              <a:gdLst/>
              <a:ahLst/>
              <a:cxnLst/>
              <a:rect r="r" b="b" t="t" l="l"/>
              <a:pathLst>
                <a:path h="1149985" w="3378200">
                  <a:moveTo>
                    <a:pt x="0" y="0"/>
                  </a:moveTo>
                  <a:lnTo>
                    <a:pt x="3378200" y="0"/>
                  </a:lnTo>
                  <a:lnTo>
                    <a:pt x="3378200" y="1149985"/>
                  </a:lnTo>
                  <a:lnTo>
                    <a:pt x="0" y="1149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93762" y="3132887"/>
            <a:ext cx="16172078" cy="45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651">
                <a:solidFill>
                  <a:srgbClr val="C9D6FF"/>
                </a:solidFill>
                <a:latin typeface="Inter"/>
                <a:ea typeface="Inter"/>
                <a:cs typeface="Inter"/>
                <a:sym typeface="Inter"/>
              </a:rPr>
              <a:t>Từ quỹ đất đến vận hành, cùng các hoạt động hỗ trợ của Văn phòng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93762" y="4474274"/>
            <a:ext cx="18813523" cy="1778927"/>
            <a:chOff x="0" y="0"/>
            <a:chExt cx="25084697" cy="23719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084785" cy="2371979"/>
            </a:xfrm>
            <a:custGeom>
              <a:avLst/>
              <a:gdLst/>
              <a:ahLst/>
              <a:cxnLst/>
              <a:rect r="r" b="b" t="t" l="l"/>
              <a:pathLst>
                <a:path h="2371979" w="25084785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24653494" y="0"/>
                  </a:lnTo>
                  <a:cubicBezTo>
                    <a:pt x="24891619" y="0"/>
                    <a:pt x="25084785" y="193040"/>
                    <a:pt x="25084785" y="431292"/>
                  </a:cubicBezTo>
                  <a:lnTo>
                    <a:pt x="25084785" y="1940687"/>
                  </a:lnTo>
                  <a:cubicBezTo>
                    <a:pt x="25084785" y="2178812"/>
                    <a:pt x="24891746" y="2371979"/>
                    <a:pt x="24653494" y="2371979"/>
                  </a:cubicBezTo>
                  <a:lnTo>
                    <a:pt x="431292" y="2371979"/>
                  </a:lnTo>
                  <a:cubicBezTo>
                    <a:pt x="193040" y="2371852"/>
                    <a:pt x="0" y="2178812"/>
                    <a:pt x="0" y="1940687"/>
                  </a:cubicBezTo>
                  <a:close/>
                </a:path>
              </a:pathLst>
            </a:custGeom>
            <a:solidFill>
              <a:srgbClr val="E3F6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25025" y="4667612"/>
            <a:ext cx="17951006" cy="90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VB Holdings đang phát triển KCN VB Quảng Yên (Quảng Ninh): </a:t>
            </a: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407,71 ha, trong đó 303 ha đất công nghiệp và 86 ha cảng, logistics; tổng vốn đầu tư 4.300 tỷ đồng; khởi công ngày 27/08/2026.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3762" y="6671691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Hoạt động chính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93762" y="7439158"/>
            <a:ext cx="3773481" cy="1455487"/>
            <a:chOff x="0" y="0"/>
            <a:chExt cx="5031308" cy="19406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31359" cy="1940561"/>
            </a:xfrm>
            <a:custGeom>
              <a:avLst/>
              <a:gdLst/>
              <a:ahLst/>
              <a:cxnLst/>
              <a:rect r="r" b="b" t="t" l="l"/>
              <a:pathLst>
                <a:path h="1940561" w="5031359">
                  <a:moveTo>
                    <a:pt x="0" y="0"/>
                  </a:moveTo>
                  <a:lnTo>
                    <a:pt x="4604385" y="0"/>
                  </a:lnTo>
                  <a:lnTo>
                    <a:pt x="5031359" y="970280"/>
                  </a:lnTo>
                  <a:lnTo>
                    <a:pt x="4604385" y="1940561"/>
                  </a:lnTo>
                  <a:lnTo>
                    <a:pt x="0" y="1940561"/>
                  </a:lnTo>
                  <a:lnTo>
                    <a:pt x="426974" y="970280"/>
                  </a:lnTo>
                  <a:close/>
                </a:path>
              </a:pathLst>
            </a:custGeom>
            <a:solidFill>
              <a:srgbClr val="2565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031308" cy="1997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Phát triển dự án</a:t>
              </a:r>
            </a:p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và quỹ đất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5487" y="9224372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51971" y="9224372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Tìm kiếm quỹ đất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5487" y="9782299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1971" y="9782299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Tiền khả thi, mô hình tài chính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5487" y="10736456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1971" y="10736456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Xin chủ trương đầu tư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531" y="11299603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5016" y="11299603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Quy hoạch, nộp tiền sử dụng đất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8531" y="12253751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5016" y="12253751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Tờ trình Hội đồng quản trị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026819" y="7439158"/>
            <a:ext cx="3773481" cy="1455487"/>
            <a:chOff x="0" y="0"/>
            <a:chExt cx="5031308" cy="19406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31359" cy="1940561"/>
            </a:xfrm>
            <a:custGeom>
              <a:avLst/>
              <a:gdLst/>
              <a:ahLst/>
              <a:cxnLst/>
              <a:rect r="r" b="b" t="t" l="l"/>
              <a:pathLst>
                <a:path h="1940561" w="5031359">
                  <a:moveTo>
                    <a:pt x="0" y="0"/>
                  </a:moveTo>
                  <a:lnTo>
                    <a:pt x="4604385" y="0"/>
                  </a:lnTo>
                  <a:lnTo>
                    <a:pt x="5031359" y="970280"/>
                  </a:lnTo>
                  <a:lnTo>
                    <a:pt x="4604385" y="1940561"/>
                  </a:lnTo>
                  <a:lnTo>
                    <a:pt x="0" y="1940561"/>
                  </a:lnTo>
                  <a:lnTo>
                    <a:pt x="426974" y="970280"/>
                  </a:lnTo>
                  <a:close/>
                </a:path>
              </a:pathLst>
            </a:custGeom>
            <a:solidFill>
              <a:srgbClr val="13578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5031308" cy="1997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Bồi thường,</a:t>
              </a:r>
            </a:p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giải phóng mặt bằng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188544" y="9224372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485028" y="9224372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Đo đạc, kiểm đếm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88544" y="9782299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85028" y="9782299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Lập phương án bồi thường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88544" y="10736456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485028" y="10736456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Chi trả theo hộ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88544" y="11294393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485028" y="11294393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Theo dõi hộ chưa bàn giao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88544" y="12248540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485028" y="12248540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Xử lý khiếu nại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759876" y="7439158"/>
            <a:ext cx="3773481" cy="1455487"/>
            <a:chOff x="0" y="0"/>
            <a:chExt cx="5031308" cy="19406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31359" cy="1940561"/>
            </a:xfrm>
            <a:custGeom>
              <a:avLst/>
              <a:gdLst/>
              <a:ahLst/>
              <a:cxnLst/>
              <a:rect r="r" b="b" t="t" l="l"/>
              <a:pathLst>
                <a:path h="1940561" w="5031359">
                  <a:moveTo>
                    <a:pt x="0" y="0"/>
                  </a:moveTo>
                  <a:lnTo>
                    <a:pt x="4604385" y="0"/>
                  </a:lnTo>
                  <a:lnTo>
                    <a:pt x="5031359" y="970280"/>
                  </a:lnTo>
                  <a:lnTo>
                    <a:pt x="4604385" y="1940561"/>
                  </a:lnTo>
                  <a:lnTo>
                    <a:pt x="0" y="1940561"/>
                  </a:lnTo>
                  <a:lnTo>
                    <a:pt x="426974" y="970280"/>
                  </a:lnTo>
                  <a:close/>
                </a:path>
              </a:pathLst>
            </a:custGeom>
            <a:solidFill>
              <a:srgbClr val="2565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5031308" cy="1997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Đầu tư</a:t>
              </a:r>
            </a:p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hạ tầng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921601" y="9224372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18085" y="9224372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Lựa chọn nhà thầu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921601" y="9782299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218085" y="9782299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Hồ sơ sau thiết kế cơ sở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921601" y="10344770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218085" y="10344770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Giám sát thi công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921601" y="10902707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218085" y="10902707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Nghiệm thu, thanh toán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905427" y="11494858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201912" y="11494858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Quyết toán dự án hoàn thành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492933" y="7439158"/>
            <a:ext cx="3773481" cy="1455487"/>
            <a:chOff x="0" y="0"/>
            <a:chExt cx="5031308" cy="19406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31359" cy="1940561"/>
            </a:xfrm>
            <a:custGeom>
              <a:avLst/>
              <a:gdLst/>
              <a:ahLst/>
              <a:cxnLst/>
              <a:rect r="r" b="b" t="t" l="l"/>
              <a:pathLst>
                <a:path h="1940561" w="5031359">
                  <a:moveTo>
                    <a:pt x="0" y="0"/>
                  </a:moveTo>
                  <a:lnTo>
                    <a:pt x="4604385" y="0"/>
                  </a:lnTo>
                  <a:lnTo>
                    <a:pt x="5031359" y="970280"/>
                  </a:lnTo>
                  <a:lnTo>
                    <a:pt x="4604385" y="1940561"/>
                  </a:lnTo>
                  <a:lnTo>
                    <a:pt x="0" y="1940561"/>
                  </a:lnTo>
                  <a:lnTo>
                    <a:pt x="426974" y="970280"/>
                  </a:lnTo>
                  <a:close/>
                </a:path>
              </a:pathLst>
            </a:custGeom>
            <a:solidFill>
              <a:srgbClr val="13578A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5031308" cy="1997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Cho thuê và</a:t>
              </a:r>
            </a:p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thu hút đầu tư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654648" y="9224372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951143" y="9224372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Xúc tiến, nhận lead từ môi giới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654648" y="10178520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951143" y="10178520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Báo giá, trả hoa hồng môi giới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54648" y="11132668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951143" y="11132668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Đàm phán MOU, đặt cọc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654648" y="12086825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951143" y="12086825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Ký hợp đồng thuê lại đất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654648" y="12707106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951143" y="12707106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Thu tiền theo đợt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6225990" y="7439158"/>
            <a:ext cx="3773481" cy="1455487"/>
            <a:chOff x="0" y="0"/>
            <a:chExt cx="5031308" cy="194065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031359" cy="1940561"/>
            </a:xfrm>
            <a:custGeom>
              <a:avLst/>
              <a:gdLst/>
              <a:ahLst/>
              <a:cxnLst/>
              <a:rect r="r" b="b" t="t" l="l"/>
              <a:pathLst>
                <a:path h="1940561" w="5031359">
                  <a:moveTo>
                    <a:pt x="0" y="0"/>
                  </a:moveTo>
                  <a:lnTo>
                    <a:pt x="4604385" y="0"/>
                  </a:lnTo>
                  <a:lnTo>
                    <a:pt x="5031359" y="970280"/>
                  </a:lnTo>
                  <a:lnTo>
                    <a:pt x="4604385" y="1940561"/>
                  </a:lnTo>
                  <a:lnTo>
                    <a:pt x="0" y="1940561"/>
                  </a:lnTo>
                  <a:lnTo>
                    <a:pt x="426974" y="970280"/>
                  </a:lnTo>
                  <a:close/>
                </a:path>
              </a:pathLst>
            </a:custGeom>
            <a:solidFill>
              <a:srgbClr val="2565FF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5031308" cy="1997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Vận hành và</a:t>
              </a:r>
            </a:p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dịch vụ khách thuê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6387705" y="9224372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684200" y="9224372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Bàn giao đất, onboarding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387705" y="10178520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684200" y="10178520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Hỗ trợ giấy phép đầu tư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387705" y="11132668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684200" y="11132668"/>
            <a:ext cx="3207458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Điện, nước, xử lý nước thải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6387705" y="12086825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684200" y="12086825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Phí quản lý, tiện ích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6387705" y="12707106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6684200" y="12707106"/>
            <a:ext cx="320745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Yêu cầu của khách thuê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93762" y="14260178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Hoạt động hỗ trợ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293762" y="15027645"/>
            <a:ext cx="3590201" cy="5390693"/>
            <a:chOff x="0" y="0"/>
            <a:chExt cx="4786935" cy="718759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787011" cy="7187692"/>
            </a:xfrm>
            <a:custGeom>
              <a:avLst/>
              <a:gdLst/>
              <a:ahLst/>
              <a:cxnLst/>
              <a:rect r="r" b="b" t="t" l="l"/>
              <a:pathLst>
                <a:path h="7187692" w="4787011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4427601" y="0"/>
                  </a:lnTo>
                  <a:cubicBezTo>
                    <a:pt x="4626102" y="0"/>
                    <a:pt x="4787011" y="160909"/>
                    <a:pt x="4787011" y="359410"/>
                  </a:cubicBezTo>
                  <a:lnTo>
                    <a:pt x="4787011" y="6828282"/>
                  </a:lnTo>
                  <a:cubicBezTo>
                    <a:pt x="4787011" y="7026783"/>
                    <a:pt x="4626102" y="7187692"/>
                    <a:pt x="4427601" y="7187692"/>
                  </a:cubicBezTo>
                  <a:lnTo>
                    <a:pt x="359410" y="7187692"/>
                  </a:lnTo>
                  <a:cubicBezTo>
                    <a:pt x="160909" y="7187692"/>
                    <a:pt x="0" y="7026783"/>
                    <a:pt x="0" y="6828282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1563300" y="15268608"/>
            <a:ext cx="3051134" cy="84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546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Lãnh đạo</a:t>
            </a:r>
          </a:p>
          <a:p>
            <a:pPr algn="l">
              <a:lnSpc>
                <a:spcPts val="3395"/>
              </a:lnSpc>
            </a:pPr>
            <a:r>
              <a:rPr lang="en-US" sz="2546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điều hành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563300" y="16435507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859785" y="16435507"/>
            <a:ext cx="280855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Duyệt giá, chiết khấu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63300" y="17159886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862423" y="17027474"/>
            <a:ext cx="2808551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Báo cáo hợp nhất các công ty dự án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563300" y="17947108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859785" y="17980454"/>
            <a:ext cx="280855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Theo dõi chỉ tiêu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5099599" y="15027645"/>
            <a:ext cx="3590201" cy="5390693"/>
            <a:chOff x="0" y="0"/>
            <a:chExt cx="4786935" cy="718759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787011" cy="7187692"/>
            </a:xfrm>
            <a:custGeom>
              <a:avLst/>
              <a:gdLst/>
              <a:ahLst/>
              <a:cxnLst/>
              <a:rect r="r" b="b" t="t" l="l"/>
              <a:pathLst>
                <a:path h="7187692" w="4787011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4427601" y="0"/>
                  </a:lnTo>
                  <a:cubicBezTo>
                    <a:pt x="4626102" y="0"/>
                    <a:pt x="4787011" y="160909"/>
                    <a:pt x="4787011" y="359410"/>
                  </a:cubicBezTo>
                  <a:lnTo>
                    <a:pt x="4787011" y="6828282"/>
                  </a:lnTo>
                  <a:cubicBezTo>
                    <a:pt x="4787011" y="7026783"/>
                    <a:pt x="4626102" y="7187692"/>
                    <a:pt x="4427601" y="7187692"/>
                  </a:cubicBezTo>
                  <a:lnTo>
                    <a:pt x="359410" y="7187692"/>
                  </a:lnTo>
                  <a:cubicBezTo>
                    <a:pt x="160909" y="7187692"/>
                    <a:pt x="0" y="7026783"/>
                    <a:pt x="0" y="6828282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5369128" y="15268608"/>
            <a:ext cx="3051134" cy="84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546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Hành chính,</a:t>
            </a:r>
          </a:p>
          <a:p>
            <a:pPr algn="l">
              <a:lnSpc>
                <a:spcPts val="3395"/>
              </a:lnSpc>
            </a:pPr>
            <a:r>
              <a:rPr lang="en-US" sz="2546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văn thư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369128" y="16435507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665622" y="16435507"/>
            <a:ext cx="280855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Công văn đi, đến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369128" y="16993443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665622" y="16993443"/>
            <a:ext cx="280855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Phê duyệt nội bộ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369128" y="17551379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665622" y="17551379"/>
            <a:ext cx="280855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Quản lý tài sản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8905427" y="15027645"/>
            <a:ext cx="3590201" cy="5390693"/>
            <a:chOff x="0" y="0"/>
            <a:chExt cx="4786935" cy="718759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787011" cy="7187692"/>
            </a:xfrm>
            <a:custGeom>
              <a:avLst/>
              <a:gdLst/>
              <a:ahLst/>
              <a:cxnLst/>
              <a:rect r="r" b="b" t="t" l="l"/>
              <a:pathLst>
                <a:path h="7187692" w="4787011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4427601" y="0"/>
                  </a:lnTo>
                  <a:cubicBezTo>
                    <a:pt x="4626102" y="0"/>
                    <a:pt x="4787011" y="160909"/>
                    <a:pt x="4787011" y="359410"/>
                  </a:cubicBezTo>
                  <a:lnTo>
                    <a:pt x="4787011" y="6828282"/>
                  </a:lnTo>
                  <a:cubicBezTo>
                    <a:pt x="4787011" y="7026783"/>
                    <a:pt x="4626102" y="7187692"/>
                    <a:pt x="4427601" y="7187692"/>
                  </a:cubicBezTo>
                  <a:lnTo>
                    <a:pt x="359410" y="7187692"/>
                  </a:lnTo>
                  <a:cubicBezTo>
                    <a:pt x="160909" y="7187692"/>
                    <a:pt x="0" y="7026783"/>
                    <a:pt x="0" y="6828282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101" id="101"/>
          <p:cNvSpPr txBox="true"/>
          <p:nvPr/>
        </p:nvSpPr>
        <p:spPr>
          <a:xfrm rot="0">
            <a:off x="9174956" y="15268608"/>
            <a:ext cx="3051134" cy="84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546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Pháp chế,</a:t>
            </a:r>
          </a:p>
          <a:p>
            <a:pPr algn="l">
              <a:lnSpc>
                <a:spcPts val="3395"/>
              </a:lnSpc>
            </a:pPr>
            <a:r>
              <a:rPr lang="en-US" sz="2546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pháp lý dự án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9174956" y="16435507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471450" y="16435507"/>
            <a:ext cx="2808551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Giấy phép, quyền sử dụng đất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9174956" y="17389664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9471450" y="17389664"/>
            <a:ext cx="2808551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Báo cáo định kỳ cơ quan quản lý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9174956" y="18343812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471450" y="18343812"/>
            <a:ext cx="280855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Soạn thảo hợp đồng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12711255" y="15027645"/>
            <a:ext cx="3590201" cy="5390693"/>
            <a:chOff x="0" y="0"/>
            <a:chExt cx="4786935" cy="718759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787011" cy="7187692"/>
            </a:xfrm>
            <a:custGeom>
              <a:avLst/>
              <a:gdLst/>
              <a:ahLst/>
              <a:cxnLst/>
              <a:rect r="r" b="b" t="t" l="l"/>
              <a:pathLst>
                <a:path h="7187692" w="4787011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4427601" y="0"/>
                  </a:lnTo>
                  <a:cubicBezTo>
                    <a:pt x="4626102" y="0"/>
                    <a:pt x="4787011" y="160909"/>
                    <a:pt x="4787011" y="359410"/>
                  </a:cubicBezTo>
                  <a:lnTo>
                    <a:pt x="4787011" y="6828282"/>
                  </a:lnTo>
                  <a:cubicBezTo>
                    <a:pt x="4787011" y="7026783"/>
                    <a:pt x="4626102" y="7187692"/>
                    <a:pt x="4427601" y="7187692"/>
                  </a:cubicBezTo>
                  <a:lnTo>
                    <a:pt x="359410" y="7187692"/>
                  </a:lnTo>
                  <a:cubicBezTo>
                    <a:pt x="160909" y="7187692"/>
                    <a:pt x="0" y="7026783"/>
                    <a:pt x="0" y="6828282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110" id="110"/>
          <p:cNvSpPr txBox="true"/>
          <p:nvPr/>
        </p:nvSpPr>
        <p:spPr>
          <a:xfrm rot="0">
            <a:off x="12980794" y="15268608"/>
            <a:ext cx="3051134" cy="84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546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Kế toán,</a:t>
            </a:r>
          </a:p>
          <a:p>
            <a:pPr algn="l">
              <a:lnSpc>
                <a:spcPts val="3395"/>
              </a:lnSpc>
            </a:pPr>
            <a:r>
              <a:rPr lang="en-US" sz="2546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tài chính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2980794" y="16435507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3277278" y="16435507"/>
            <a:ext cx="2808551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Lịch thu theo đợt hợp đồng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2980794" y="17389664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277278" y="17389664"/>
            <a:ext cx="280855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Công nợ phí, tiện ích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2980794" y="17638322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3277278" y="17638322"/>
            <a:ext cx="280855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Vốn vay, trái phiếu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16517083" y="15027645"/>
            <a:ext cx="3590201" cy="5390693"/>
            <a:chOff x="0" y="0"/>
            <a:chExt cx="4786935" cy="718759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787011" cy="7187692"/>
            </a:xfrm>
            <a:custGeom>
              <a:avLst/>
              <a:gdLst/>
              <a:ahLst/>
              <a:cxnLst/>
              <a:rect r="r" b="b" t="t" l="l"/>
              <a:pathLst>
                <a:path h="7187692" w="4787011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4427601" y="0"/>
                  </a:lnTo>
                  <a:cubicBezTo>
                    <a:pt x="4626102" y="0"/>
                    <a:pt x="4787011" y="160909"/>
                    <a:pt x="4787011" y="359410"/>
                  </a:cubicBezTo>
                  <a:lnTo>
                    <a:pt x="4787011" y="6828282"/>
                  </a:lnTo>
                  <a:cubicBezTo>
                    <a:pt x="4787011" y="7026783"/>
                    <a:pt x="4626102" y="7187692"/>
                    <a:pt x="4427601" y="7187692"/>
                  </a:cubicBezTo>
                  <a:lnTo>
                    <a:pt x="359410" y="7187692"/>
                  </a:lnTo>
                  <a:cubicBezTo>
                    <a:pt x="160909" y="7187692"/>
                    <a:pt x="0" y="7026783"/>
                    <a:pt x="0" y="6828282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119" id="119"/>
          <p:cNvSpPr txBox="true"/>
          <p:nvPr/>
        </p:nvSpPr>
        <p:spPr>
          <a:xfrm rot="0">
            <a:off x="16786622" y="15268608"/>
            <a:ext cx="3051134" cy="41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546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Nhân sự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6786622" y="16435507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7083107" y="16435507"/>
            <a:ext cx="280855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Tuyển dụng, đào tạo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6786622" y="17133640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7083107" y="17027474"/>
            <a:ext cx="2808551" cy="77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Chấm công, tính lương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6786622" y="17896137"/>
            <a:ext cx="269538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7083107" y="17970929"/>
            <a:ext cx="2808551" cy="38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Đánh giá hiệu quả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293762" y="20732663"/>
            <a:ext cx="18813523" cy="41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334">
                <a:solidFill>
                  <a:srgbClr val="4A587A"/>
                </a:solidFill>
                <a:latin typeface="Inter"/>
                <a:ea typeface="Inter"/>
                <a:cs typeface="Inter"/>
                <a:sym typeface="Inter"/>
              </a:rPr>
              <a:t>Chuỗi giá trị vận hành được đúc kết từ các dự án triển khai thành công của Base như Shinec, Sonadezi, Bảo Minh, Việt Hưng,...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1293762" y="21981638"/>
            <a:ext cx="18813523" cy="4043020"/>
            <a:chOff x="0" y="0"/>
            <a:chExt cx="25084697" cy="5390693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5084785" cy="5390769"/>
            </a:xfrm>
            <a:custGeom>
              <a:avLst/>
              <a:gdLst/>
              <a:ahLst/>
              <a:cxnLst/>
              <a:rect r="r" b="b" t="t" l="l"/>
              <a:pathLst>
                <a:path h="5390769" w="25084785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24653494" y="0"/>
                  </a:lnTo>
                  <a:cubicBezTo>
                    <a:pt x="24891619" y="0"/>
                    <a:pt x="25084785" y="193040"/>
                    <a:pt x="25084785" y="431292"/>
                  </a:cubicBezTo>
                  <a:lnTo>
                    <a:pt x="25084785" y="4959477"/>
                  </a:lnTo>
                  <a:cubicBezTo>
                    <a:pt x="25084785" y="5197602"/>
                    <a:pt x="24891746" y="5390769"/>
                    <a:pt x="24653494" y="5390769"/>
                  </a:cubicBezTo>
                  <a:lnTo>
                    <a:pt x="431292" y="5390769"/>
                  </a:lnTo>
                  <a:cubicBezTo>
                    <a:pt x="193040" y="5390642"/>
                    <a:pt x="0" y="5197602"/>
                    <a:pt x="0" y="49594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TextBox 129" id="129"/>
          <p:cNvSpPr txBox="true"/>
          <p:nvPr/>
        </p:nvSpPr>
        <p:spPr>
          <a:xfrm rot="0">
            <a:off x="1832839" y="22301840"/>
            <a:ext cx="17735379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FFD966"/>
                </a:solidFill>
                <a:latin typeface="Inter Bold"/>
                <a:ea typeface="Inter Bold"/>
                <a:cs typeface="Inter Bold"/>
                <a:sym typeface="Inter Bold"/>
              </a:rPr>
              <a:t>Điểm chung của mô hình này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832839" y="23110446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2129323" y="23110446"/>
            <a:ext cx="17438894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Dữ liệu vận hành xoay quanh hồ sơ phê duyệt về chủ trương đầu tư, hợp đồng, gói thầu, giá,...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832839" y="23733066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832839" y="24355696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2102377" y="23762699"/>
            <a:ext cx="17438894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Quy trình vận hành có, nhưng chủ yếu quản lý trên giấy tờ bản cứng, dữ liệu phân mảnh qua email/ chat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293762" y="29223843"/>
            <a:ext cx="6388117" cy="39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4A587A"/>
                </a:solidFill>
                <a:latin typeface="Inter"/>
                <a:ea typeface="Inter"/>
                <a:cs typeface="Inter"/>
                <a:sym typeface="Inter"/>
              </a:rPr>
              <a:t>Base.vn · Dành cho Ban Lãnh đạo VB Holdings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9486830" y="29223843"/>
            <a:ext cx="620464" cy="39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8"/>
              </a:lnSpc>
            </a:pP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 / 7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2086194" y="24415046"/>
            <a:ext cx="17438894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Nhiều đơn vị thành viên, nhiều cơ quan quản lý; cần báo cáo hợp nhất cho Ban Lãnh đạo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401056" cy="4043020"/>
            <a:chOff x="0" y="0"/>
            <a:chExt cx="28534741" cy="5390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4742" cy="5390642"/>
            </a:xfrm>
            <a:custGeom>
              <a:avLst/>
              <a:gdLst/>
              <a:ahLst/>
              <a:cxnLst/>
              <a:rect r="r" b="b" t="t" l="l"/>
              <a:pathLst>
                <a:path h="5390642" w="28534742">
                  <a:moveTo>
                    <a:pt x="0" y="0"/>
                  </a:moveTo>
                  <a:lnTo>
                    <a:pt x="28534742" y="0"/>
                  </a:lnTo>
                  <a:lnTo>
                    <a:pt x="28534742" y="5390642"/>
                  </a:lnTo>
                  <a:lnTo>
                    <a:pt x="0" y="5390642"/>
                  </a:ln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3762" y="922696"/>
            <a:ext cx="15093944" cy="4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b="true" sz="2546" spc="297">
                <a:solidFill>
                  <a:srgbClr val="23BFFF"/>
                </a:solidFill>
                <a:latin typeface="Inter Bold"/>
                <a:ea typeface="Inter Bold"/>
                <a:cs typeface="Inter Bold"/>
                <a:sym typeface="Inter Bold"/>
              </a:rPr>
              <a:t>BỘ GIẢI PHÁP CỦA BASE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762" y="1417387"/>
            <a:ext cx="15902549" cy="87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3"/>
              </a:lnSpc>
            </a:pPr>
            <a:r>
              <a:rPr lang="en-US" sz="551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 bộ giải pháp chính của 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762" y="3132887"/>
            <a:ext cx="16172078" cy="45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651">
                <a:solidFill>
                  <a:srgbClr val="C9D6FF"/>
                </a:solidFill>
                <a:latin typeface="Inter"/>
                <a:ea typeface="Inter"/>
                <a:cs typeface="Inter"/>
                <a:sym typeface="Inter"/>
              </a:rPr>
              <a:t>Vận hành trên 1 nền tảng đồng nhất</a:t>
            </a:r>
            <a:r>
              <a:rPr lang="en-US" sz="2651">
                <a:solidFill>
                  <a:srgbClr val="C9D6FF"/>
                </a:solidFill>
                <a:latin typeface="Inter"/>
                <a:ea typeface="Inter"/>
                <a:cs typeface="Inter"/>
                <a:sym typeface="Inter"/>
              </a:rPr>
              <a:t>, dữ liệu lưu trữ xuyên suốt, AI nhúng trực tiếp phân tích báo cáo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50223" y="808606"/>
            <a:ext cx="2857071" cy="1078135"/>
            <a:chOff x="0" y="0"/>
            <a:chExt cx="3809428" cy="14375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09492" cy="1437513"/>
            </a:xfrm>
            <a:custGeom>
              <a:avLst/>
              <a:gdLst/>
              <a:ahLst/>
              <a:cxnLst/>
              <a:rect r="r" b="b" t="t" l="l"/>
              <a:pathLst>
                <a:path h="1437513" w="380949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3521964" y="0"/>
                  </a:lnTo>
                  <a:cubicBezTo>
                    <a:pt x="3680714" y="0"/>
                    <a:pt x="3809492" y="128778"/>
                    <a:pt x="3809492" y="287528"/>
                  </a:cubicBezTo>
                  <a:lnTo>
                    <a:pt x="3809492" y="1149985"/>
                  </a:lnTo>
                  <a:cubicBezTo>
                    <a:pt x="3809492" y="1308735"/>
                    <a:pt x="3680714" y="1437513"/>
                    <a:pt x="3521964" y="1437513"/>
                  </a:cubicBezTo>
                  <a:lnTo>
                    <a:pt x="287528" y="1437513"/>
                  </a:lnTo>
                  <a:cubicBezTo>
                    <a:pt x="128778" y="1437513"/>
                    <a:pt x="0" y="1308735"/>
                    <a:pt x="0" y="11499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411938" y="916419"/>
            <a:ext cx="2533621" cy="862508"/>
            <a:chOff x="0" y="0"/>
            <a:chExt cx="3378162" cy="1150010"/>
          </a:xfrm>
        </p:grpSpPr>
        <p:sp>
          <p:nvSpPr>
            <p:cNvPr name="Freeform 10" id="10" descr="i3.png"/>
            <p:cNvSpPr/>
            <p:nvPr/>
          </p:nvSpPr>
          <p:spPr>
            <a:xfrm flipH="false" flipV="false" rot="0">
              <a:off x="0" y="0"/>
              <a:ext cx="3378200" cy="1149985"/>
            </a:xfrm>
            <a:custGeom>
              <a:avLst/>
              <a:gdLst/>
              <a:ahLst/>
              <a:cxnLst/>
              <a:rect r="r" b="b" t="t" l="l"/>
              <a:pathLst>
                <a:path h="1149985" w="3378200">
                  <a:moveTo>
                    <a:pt x="0" y="0"/>
                  </a:moveTo>
                  <a:lnTo>
                    <a:pt x="3378200" y="0"/>
                  </a:lnTo>
                  <a:lnTo>
                    <a:pt x="3378200" y="1149985"/>
                  </a:lnTo>
                  <a:lnTo>
                    <a:pt x="0" y="1149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3762" y="4851625"/>
            <a:ext cx="5983672" cy="1509398"/>
            <a:chOff x="0" y="0"/>
            <a:chExt cx="7978229" cy="20125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78267" cy="2012569"/>
            </a:xfrm>
            <a:custGeom>
              <a:avLst/>
              <a:gdLst/>
              <a:ahLst/>
              <a:cxnLst/>
              <a:rect r="r" b="b" t="t" l="l"/>
              <a:pathLst>
                <a:path h="2012569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1581277"/>
                  </a:lnTo>
                  <a:cubicBezTo>
                    <a:pt x="7978267" y="1819402"/>
                    <a:pt x="7785227" y="2012569"/>
                    <a:pt x="7546975" y="2012569"/>
                  </a:cubicBezTo>
                  <a:lnTo>
                    <a:pt x="431292" y="2012569"/>
                  </a:lnTo>
                  <a:cubicBezTo>
                    <a:pt x="193040" y="2012569"/>
                    <a:pt x="0" y="1819402"/>
                    <a:pt x="0" y="15812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93762" y="4851625"/>
            <a:ext cx="5983672" cy="1509394"/>
            <a:chOff x="0" y="0"/>
            <a:chExt cx="7978229" cy="20125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78226" cy="2012520"/>
            </a:xfrm>
            <a:custGeom>
              <a:avLst/>
              <a:gdLst/>
              <a:ahLst/>
              <a:cxnLst/>
              <a:rect r="r" b="b" t="t" l="l"/>
              <a:pathLst>
                <a:path h="2012520" w="7978226">
                  <a:moveTo>
                    <a:pt x="0" y="0"/>
                  </a:moveTo>
                  <a:lnTo>
                    <a:pt x="7978226" y="0"/>
                  </a:lnTo>
                  <a:lnTo>
                    <a:pt x="7978226" y="2012520"/>
                  </a:lnTo>
                  <a:lnTo>
                    <a:pt x="0" y="2012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44" r="0" b="-2724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978229" cy="2079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1"/>
                </a:lnSpc>
              </a:pPr>
              <a:r>
                <a:rPr lang="en-US" sz="33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Base Work 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93762" y="6576651"/>
            <a:ext cx="5983672" cy="10781386"/>
            <a:chOff x="0" y="0"/>
            <a:chExt cx="7978229" cy="143751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78267" cy="14375130"/>
            </a:xfrm>
            <a:custGeom>
              <a:avLst/>
              <a:gdLst/>
              <a:ahLst/>
              <a:cxnLst/>
              <a:rect r="r" b="b" t="t" l="l"/>
              <a:pathLst>
                <a:path h="14375130" w="7978267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165"/>
                  </a:cubicBezTo>
                  <a:lnTo>
                    <a:pt x="7978267" y="13943964"/>
                  </a:lnTo>
                  <a:cubicBezTo>
                    <a:pt x="7978267" y="14182089"/>
                    <a:pt x="7785227" y="14375130"/>
                    <a:pt x="7547102" y="14375130"/>
                  </a:cubicBezTo>
                  <a:lnTo>
                    <a:pt x="431165" y="14375130"/>
                  </a:lnTo>
                  <a:cubicBezTo>
                    <a:pt x="193040" y="14375130"/>
                    <a:pt x="0" y="14182089"/>
                    <a:pt x="0" y="13943964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71114" y="6852466"/>
            <a:ext cx="5228977" cy="4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546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Chức năng chính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1114" y="7597635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67608" y="7597635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Giao việc và dự án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71114" y="8274167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67608" y="8274167"/>
            <a:ext cx="4932483" cy="85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Đề xuất, tờ trình, phê duyệt nhiều cấp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1114" y="9384649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67608" y="9384649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Quy trình tự động (Workflow)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1114" y="10061181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67608" y="10061181"/>
            <a:ext cx="4932483" cy="85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Văn phòng điện tử: văn bản đến, đi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1114" y="11171663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67608" y="11171663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Ký số, họp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49822" y="14110145"/>
            <a:ext cx="5471551" cy="3045743"/>
            <a:chOff x="0" y="0"/>
            <a:chExt cx="7295401" cy="40609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95388" cy="4060952"/>
            </a:xfrm>
            <a:custGeom>
              <a:avLst/>
              <a:gdLst/>
              <a:ahLst/>
              <a:cxnLst/>
              <a:rect r="r" b="b" t="t" l="l"/>
              <a:pathLst>
                <a:path h="4060952" w="7295388">
                  <a:moveTo>
                    <a:pt x="0" y="362585"/>
                  </a:moveTo>
                  <a:cubicBezTo>
                    <a:pt x="0" y="162306"/>
                    <a:pt x="162306" y="0"/>
                    <a:pt x="362585" y="0"/>
                  </a:cubicBezTo>
                  <a:lnTo>
                    <a:pt x="6932803" y="0"/>
                  </a:lnTo>
                  <a:cubicBezTo>
                    <a:pt x="7133082" y="0"/>
                    <a:pt x="7295388" y="162306"/>
                    <a:pt x="7295388" y="362585"/>
                  </a:cubicBezTo>
                  <a:lnTo>
                    <a:pt x="7295388" y="3698367"/>
                  </a:lnTo>
                  <a:cubicBezTo>
                    <a:pt x="7295388" y="3898646"/>
                    <a:pt x="7133082" y="4060952"/>
                    <a:pt x="6932803" y="4060952"/>
                  </a:cubicBezTo>
                  <a:lnTo>
                    <a:pt x="362585" y="4060952"/>
                  </a:lnTo>
                  <a:cubicBezTo>
                    <a:pt x="162306" y="4060952"/>
                    <a:pt x="0" y="3898646"/>
                    <a:pt x="0" y="3698367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832839" y="14282099"/>
            <a:ext cx="4905527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Giá trị mang lại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32839" y="14884594"/>
            <a:ext cx="4905527" cy="127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Một nơi để giao việc, duyệt và theo dõi, không còn lạc việc qua Zalo, email.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708687" y="4851625"/>
            <a:ext cx="5983672" cy="1509398"/>
            <a:chOff x="0" y="0"/>
            <a:chExt cx="7978229" cy="20125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78267" cy="2012569"/>
            </a:xfrm>
            <a:custGeom>
              <a:avLst/>
              <a:gdLst/>
              <a:ahLst/>
              <a:cxnLst/>
              <a:rect r="r" b="b" t="t" l="l"/>
              <a:pathLst>
                <a:path h="2012569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1581277"/>
                  </a:lnTo>
                  <a:cubicBezTo>
                    <a:pt x="7978267" y="1819402"/>
                    <a:pt x="7785227" y="2012569"/>
                    <a:pt x="7546975" y="2012569"/>
                  </a:cubicBezTo>
                  <a:lnTo>
                    <a:pt x="431292" y="2012569"/>
                  </a:lnTo>
                  <a:cubicBezTo>
                    <a:pt x="193040" y="2012569"/>
                    <a:pt x="0" y="1819402"/>
                    <a:pt x="0" y="15812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708687" y="4851625"/>
            <a:ext cx="5983672" cy="1509394"/>
            <a:chOff x="0" y="0"/>
            <a:chExt cx="7978229" cy="20125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78226" cy="2012520"/>
            </a:xfrm>
            <a:custGeom>
              <a:avLst/>
              <a:gdLst/>
              <a:ahLst/>
              <a:cxnLst/>
              <a:rect r="r" b="b" t="t" l="l"/>
              <a:pathLst>
                <a:path h="2012520" w="7978226">
                  <a:moveTo>
                    <a:pt x="0" y="0"/>
                  </a:moveTo>
                  <a:lnTo>
                    <a:pt x="7978226" y="0"/>
                  </a:lnTo>
                  <a:lnTo>
                    <a:pt x="7978226" y="2012520"/>
                  </a:lnTo>
                  <a:lnTo>
                    <a:pt x="0" y="2012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44" r="0" b="-2724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7978229" cy="2079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1"/>
                </a:lnSpc>
              </a:pPr>
              <a:r>
                <a:rPr lang="en-US" sz="33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Base HRM OS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708687" y="6576651"/>
            <a:ext cx="5983672" cy="10781386"/>
            <a:chOff x="0" y="0"/>
            <a:chExt cx="7978229" cy="143751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978267" cy="14375130"/>
            </a:xfrm>
            <a:custGeom>
              <a:avLst/>
              <a:gdLst/>
              <a:ahLst/>
              <a:cxnLst/>
              <a:rect r="r" b="b" t="t" l="l"/>
              <a:pathLst>
                <a:path h="14375130" w="7978267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165"/>
                  </a:cubicBezTo>
                  <a:lnTo>
                    <a:pt x="7978267" y="13943964"/>
                  </a:lnTo>
                  <a:cubicBezTo>
                    <a:pt x="7978267" y="14182089"/>
                    <a:pt x="7785227" y="14375130"/>
                    <a:pt x="7547102" y="14375130"/>
                  </a:cubicBezTo>
                  <a:lnTo>
                    <a:pt x="431165" y="14375130"/>
                  </a:lnTo>
                  <a:cubicBezTo>
                    <a:pt x="193040" y="14375130"/>
                    <a:pt x="0" y="14182089"/>
                    <a:pt x="0" y="13943964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086039" y="6852466"/>
            <a:ext cx="5228977" cy="4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546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Chức năng chính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86039" y="7597635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382524" y="7597635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Hồ sơ nhân sự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086039" y="8274167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382524" y="8274167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Chấm công, tính lương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086039" y="8950700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382524" y="8950700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Tuyển dụng, đào tạo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086039" y="9627232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382524" y="9627232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Đánh giá, chỉ tiêu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964748" y="14110145"/>
            <a:ext cx="5471551" cy="3045743"/>
            <a:chOff x="0" y="0"/>
            <a:chExt cx="7295401" cy="406099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95388" cy="4060952"/>
            </a:xfrm>
            <a:custGeom>
              <a:avLst/>
              <a:gdLst/>
              <a:ahLst/>
              <a:cxnLst/>
              <a:rect r="r" b="b" t="t" l="l"/>
              <a:pathLst>
                <a:path h="4060952" w="7295388">
                  <a:moveTo>
                    <a:pt x="0" y="362585"/>
                  </a:moveTo>
                  <a:cubicBezTo>
                    <a:pt x="0" y="162306"/>
                    <a:pt x="162306" y="0"/>
                    <a:pt x="362585" y="0"/>
                  </a:cubicBezTo>
                  <a:lnTo>
                    <a:pt x="6932803" y="0"/>
                  </a:lnTo>
                  <a:cubicBezTo>
                    <a:pt x="7133082" y="0"/>
                    <a:pt x="7295388" y="162306"/>
                    <a:pt x="7295388" y="362585"/>
                  </a:cubicBezTo>
                  <a:lnTo>
                    <a:pt x="7295388" y="3698367"/>
                  </a:lnTo>
                  <a:cubicBezTo>
                    <a:pt x="7295388" y="3898646"/>
                    <a:pt x="7133082" y="4060952"/>
                    <a:pt x="6932803" y="4060952"/>
                  </a:cubicBezTo>
                  <a:lnTo>
                    <a:pt x="362585" y="4060952"/>
                  </a:lnTo>
                  <a:cubicBezTo>
                    <a:pt x="162306" y="4060952"/>
                    <a:pt x="0" y="3898646"/>
                    <a:pt x="0" y="3698367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8247764" y="14282099"/>
            <a:ext cx="4905527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Giá trị mang lại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247764" y="14884594"/>
            <a:ext cx="4905527" cy="127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Nhân sự tại văn phòng và công trường quản lý trên cùng hệ thống.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4123613" y="4851625"/>
            <a:ext cx="5983672" cy="1509398"/>
            <a:chOff x="0" y="0"/>
            <a:chExt cx="7978229" cy="20125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978267" cy="2012569"/>
            </a:xfrm>
            <a:custGeom>
              <a:avLst/>
              <a:gdLst/>
              <a:ahLst/>
              <a:cxnLst/>
              <a:rect r="r" b="b" t="t" l="l"/>
              <a:pathLst>
                <a:path h="2012569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1581277"/>
                  </a:lnTo>
                  <a:cubicBezTo>
                    <a:pt x="7978267" y="1819402"/>
                    <a:pt x="7785227" y="2012569"/>
                    <a:pt x="7546975" y="2012569"/>
                  </a:cubicBezTo>
                  <a:lnTo>
                    <a:pt x="431292" y="2012569"/>
                  </a:lnTo>
                  <a:cubicBezTo>
                    <a:pt x="193040" y="2012569"/>
                    <a:pt x="0" y="1819402"/>
                    <a:pt x="0" y="15812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4123613" y="4851625"/>
            <a:ext cx="5983672" cy="1509394"/>
            <a:chOff x="0" y="0"/>
            <a:chExt cx="7978229" cy="201252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978226" cy="2012520"/>
            </a:xfrm>
            <a:custGeom>
              <a:avLst/>
              <a:gdLst/>
              <a:ahLst/>
              <a:cxnLst/>
              <a:rect r="r" b="b" t="t" l="l"/>
              <a:pathLst>
                <a:path h="2012520" w="7978226">
                  <a:moveTo>
                    <a:pt x="0" y="0"/>
                  </a:moveTo>
                  <a:lnTo>
                    <a:pt x="7978226" y="0"/>
                  </a:lnTo>
                  <a:lnTo>
                    <a:pt x="7978226" y="2012520"/>
                  </a:lnTo>
                  <a:lnTo>
                    <a:pt x="0" y="2012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44" r="0" b="-2724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7978229" cy="2079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1"/>
                </a:lnSpc>
              </a:pPr>
              <a:r>
                <a:rPr lang="en-US" sz="33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Base CRM OS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123613" y="6576651"/>
            <a:ext cx="5983672" cy="10781386"/>
            <a:chOff x="0" y="0"/>
            <a:chExt cx="7978229" cy="1437518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978267" cy="14375130"/>
            </a:xfrm>
            <a:custGeom>
              <a:avLst/>
              <a:gdLst/>
              <a:ahLst/>
              <a:cxnLst/>
              <a:rect r="r" b="b" t="t" l="l"/>
              <a:pathLst>
                <a:path h="14375130" w="7978267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165"/>
                  </a:cubicBezTo>
                  <a:lnTo>
                    <a:pt x="7978267" y="13943964"/>
                  </a:lnTo>
                  <a:cubicBezTo>
                    <a:pt x="7978267" y="14182089"/>
                    <a:pt x="7785227" y="14375130"/>
                    <a:pt x="7547102" y="14375130"/>
                  </a:cubicBezTo>
                  <a:lnTo>
                    <a:pt x="431165" y="14375130"/>
                  </a:lnTo>
                  <a:cubicBezTo>
                    <a:pt x="193040" y="14375130"/>
                    <a:pt x="0" y="14182089"/>
                    <a:pt x="0" y="13943964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4500965" y="6852466"/>
            <a:ext cx="5228977" cy="4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546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Chức năng chính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500965" y="7597635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797449" y="7597635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Khách hàng, nhà đầu tư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500965" y="8274167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797449" y="8274167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Hợp đồng và đợt thanh toán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500965" y="8950700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797449" y="8950700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Pipeline bán hàng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500965" y="9627232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797449" y="9627232"/>
            <a:ext cx="4932483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Quản lý đối tác, môi giới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4379673" y="14110145"/>
            <a:ext cx="5471551" cy="3045743"/>
            <a:chOff x="0" y="0"/>
            <a:chExt cx="7295401" cy="406099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295388" cy="4060952"/>
            </a:xfrm>
            <a:custGeom>
              <a:avLst/>
              <a:gdLst/>
              <a:ahLst/>
              <a:cxnLst/>
              <a:rect r="r" b="b" t="t" l="l"/>
              <a:pathLst>
                <a:path h="4060952" w="7295388">
                  <a:moveTo>
                    <a:pt x="0" y="362585"/>
                  </a:moveTo>
                  <a:cubicBezTo>
                    <a:pt x="0" y="162306"/>
                    <a:pt x="162306" y="0"/>
                    <a:pt x="362585" y="0"/>
                  </a:cubicBezTo>
                  <a:lnTo>
                    <a:pt x="6932803" y="0"/>
                  </a:lnTo>
                  <a:cubicBezTo>
                    <a:pt x="7133082" y="0"/>
                    <a:pt x="7295388" y="162306"/>
                    <a:pt x="7295388" y="362585"/>
                  </a:cubicBezTo>
                  <a:lnTo>
                    <a:pt x="7295388" y="3698367"/>
                  </a:lnTo>
                  <a:cubicBezTo>
                    <a:pt x="7295388" y="3898646"/>
                    <a:pt x="7133082" y="4060952"/>
                    <a:pt x="6932803" y="4060952"/>
                  </a:cubicBezTo>
                  <a:lnTo>
                    <a:pt x="362585" y="4060952"/>
                  </a:lnTo>
                  <a:cubicBezTo>
                    <a:pt x="162306" y="4060952"/>
                    <a:pt x="0" y="3898646"/>
                    <a:pt x="0" y="3698367"/>
                  </a:cubicBezTo>
                  <a:close/>
                </a:path>
              </a:pathLst>
            </a:custGeom>
            <a:solidFill>
              <a:srgbClr val="FFFFFF"/>
            </a:solidFill>
            <a:ln w="26953" cap="sq">
              <a:solidFill>
                <a:srgbClr val="D5DEF5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4662690" y="14282099"/>
            <a:ext cx="4905527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Giá trị mang lại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662690" y="14884594"/>
            <a:ext cx="4905527" cy="845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Thấy rõ pipeline thuê đất, chuyển đổi theo nguồn và tiến độ thu tiền.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93762" y="18058819"/>
            <a:ext cx="18813523" cy="3503952"/>
            <a:chOff x="0" y="0"/>
            <a:chExt cx="25084697" cy="46719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084658" cy="4671822"/>
            </a:xfrm>
            <a:custGeom>
              <a:avLst/>
              <a:gdLst/>
              <a:ahLst/>
              <a:cxnLst/>
              <a:rect r="r" b="b" t="t" l="l"/>
              <a:pathLst>
                <a:path h="4671822" w="25084658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24653494" y="0"/>
                  </a:lnTo>
                  <a:cubicBezTo>
                    <a:pt x="24891619" y="0"/>
                    <a:pt x="25084658" y="193040"/>
                    <a:pt x="25084658" y="431165"/>
                  </a:cubicBezTo>
                  <a:lnTo>
                    <a:pt x="25084658" y="4240657"/>
                  </a:lnTo>
                  <a:cubicBezTo>
                    <a:pt x="25084658" y="4478782"/>
                    <a:pt x="24891619" y="4671822"/>
                    <a:pt x="24653494" y="4671822"/>
                  </a:cubicBezTo>
                  <a:lnTo>
                    <a:pt x="431165" y="4671822"/>
                  </a:lnTo>
                  <a:cubicBezTo>
                    <a:pt x="193040" y="4671949"/>
                    <a:pt x="0" y="4478909"/>
                    <a:pt x="0" y="424065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832839" y="18379021"/>
            <a:ext cx="17735379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FFD966"/>
                </a:solidFill>
                <a:latin typeface="Inter Bold"/>
                <a:ea typeface="Inter Bold"/>
                <a:cs typeface="Inter Bold"/>
                <a:sym typeface="Inter Bold"/>
              </a:rPr>
              <a:t>Open API</a:t>
            </a:r>
            <a:r>
              <a:rPr lang="en-US" sz="2971" b="true">
                <a:solidFill>
                  <a:srgbClr val="FFD966"/>
                </a:solidFill>
                <a:latin typeface="Inter Bold"/>
                <a:ea typeface="Inter Bold"/>
                <a:cs typeface="Inter Bold"/>
                <a:sym typeface="Inter Bold"/>
              </a:rPr>
              <a:t> và AI Agents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832839" y="19187627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129323" y="19187627"/>
            <a:ext cx="17438894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Cổng API và đường ống dữ liệu: giữ nguyên phần mềm kế toán, ERP đang dùng, Base kết nối lên tầng quản trị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832839" y="20244206"/>
            <a:ext cx="269538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•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129323" y="20244206"/>
            <a:ext cx="17438894" cy="85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Agent đọc file Word, PDF, Excel đính kèm, so sánh báo giá nhà cung cấp và tóm tắt ngay trong phiếu trước khi trình người duyệt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93762" y="22196889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Vì sao phù hợp với Chủ đầu tư khu công nghiệp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1293762" y="22964356"/>
            <a:ext cx="5983672" cy="3180512"/>
            <a:chOff x="0" y="0"/>
            <a:chExt cx="7978229" cy="424068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978267" cy="4240784"/>
            </a:xfrm>
            <a:custGeom>
              <a:avLst/>
              <a:gdLst/>
              <a:ahLst/>
              <a:cxnLst/>
              <a:rect r="r" b="b" t="t" l="l"/>
              <a:pathLst>
                <a:path h="4240784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7102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3809492"/>
                  </a:lnTo>
                  <a:cubicBezTo>
                    <a:pt x="7978267" y="4047617"/>
                    <a:pt x="7785227" y="4240784"/>
                    <a:pt x="7546975" y="4240784"/>
                  </a:cubicBezTo>
                  <a:lnTo>
                    <a:pt x="431292" y="4240784"/>
                  </a:lnTo>
                  <a:cubicBezTo>
                    <a:pt x="193040" y="4240657"/>
                    <a:pt x="0" y="4047617"/>
                    <a:pt x="0" y="3809492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1725025" y="23257602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Nhiều hồ sơ chứng từ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725025" y="23912389"/>
            <a:ext cx="5121154" cy="135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Quản lý dữ liệu xuyên suốt cả bộ hồ sơ chứng từ, AI đọc review phân tích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7708687" y="22964356"/>
            <a:ext cx="5983672" cy="3180512"/>
            <a:chOff x="0" y="0"/>
            <a:chExt cx="7978229" cy="424068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978267" cy="4240784"/>
            </a:xfrm>
            <a:custGeom>
              <a:avLst/>
              <a:gdLst/>
              <a:ahLst/>
              <a:cxnLst/>
              <a:rect r="r" b="b" t="t" l="l"/>
              <a:pathLst>
                <a:path h="4240784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7102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3809492"/>
                  </a:lnTo>
                  <a:cubicBezTo>
                    <a:pt x="7978267" y="4047617"/>
                    <a:pt x="7785227" y="4240784"/>
                    <a:pt x="7546975" y="4240784"/>
                  </a:cubicBezTo>
                  <a:lnTo>
                    <a:pt x="431292" y="4240784"/>
                  </a:lnTo>
                  <a:cubicBezTo>
                    <a:pt x="193040" y="4240657"/>
                    <a:pt x="0" y="4047617"/>
                    <a:pt x="0" y="3809492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8139951" y="23257602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Nhiều đơn vị thành viên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139951" y="23912389"/>
            <a:ext cx="5121154" cy="89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Phân quyền theo từng công ty dự án, hợp nhất về công ty mẹ.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4123613" y="22964356"/>
            <a:ext cx="5983672" cy="3180512"/>
            <a:chOff x="0" y="0"/>
            <a:chExt cx="7978229" cy="424068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978267" cy="4240784"/>
            </a:xfrm>
            <a:custGeom>
              <a:avLst/>
              <a:gdLst/>
              <a:ahLst/>
              <a:cxnLst/>
              <a:rect r="r" b="b" t="t" l="l"/>
              <a:pathLst>
                <a:path h="4240784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7102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3809492"/>
                  </a:lnTo>
                  <a:cubicBezTo>
                    <a:pt x="7978267" y="4047617"/>
                    <a:pt x="7785227" y="4240784"/>
                    <a:pt x="7546975" y="4240784"/>
                  </a:cubicBezTo>
                  <a:lnTo>
                    <a:pt x="431292" y="4240784"/>
                  </a:lnTo>
                  <a:cubicBezTo>
                    <a:pt x="193040" y="4240657"/>
                    <a:pt x="0" y="4047617"/>
                    <a:pt x="0" y="3809492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14554876" y="23257602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Đối tác quốc tế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4554876" y="23912389"/>
            <a:ext cx="5121154" cy="89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Dịch báo giá, hợp đồng, đề nghị mua hàng đa ngôn ngữ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293762" y="29223843"/>
            <a:ext cx="6388117" cy="39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4A587A"/>
                </a:solidFill>
                <a:latin typeface="Inter"/>
                <a:ea typeface="Inter"/>
                <a:cs typeface="Inter"/>
                <a:sym typeface="Inter"/>
              </a:rPr>
              <a:t>Base.vn · Dành cho Ban Lãnh đạo VB Holdings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9503052" y="29223843"/>
            <a:ext cx="604242" cy="39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8"/>
              </a:lnSpc>
            </a:pP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 / 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401056" cy="4043020"/>
            <a:chOff x="0" y="0"/>
            <a:chExt cx="28534741" cy="5390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4742" cy="5390642"/>
            </a:xfrm>
            <a:custGeom>
              <a:avLst/>
              <a:gdLst/>
              <a:ahLst/>
              <a:cxnLst/>
              <a:rect r="r" b="b" t="t" l="l"/>
              <a:pathLst>
                <a:path h="5390642" w="28534742">
                  <a:moveTo>
                    <a:pt x="0" y="0"/>
                  </a:moveTo>
                  <a:lnTo>
                    <a:pt x="28534742" y="0"/>
                  </a:lnTo>
                  <a:lnTo>
                    <a:pt x="28534742" y="5390642"/>
                  </a:lnTo>
                  <a:lnTo>
                    <a:pt x="0" y="5390642"/>
                  </a:ln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3762" y="922696"/>
            <a:ext cx="15093944" cy="4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b="true" sz="2546" spc="297">
                <a:solidFill>
                  <a:srgbClr val="23BFFF"/>
                </a:solidFill>
                <a:latin typeface="Inter Bold"/>
                <a:ea typeface="Inter Bold"/>
                <a:cs typeface="Inter Bold"/>
                <a:sym typeface="Inter Bold"/>
              </a:rPr>
              <a:t>PHƯƠNG PHÁP TRIỂN KHAI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762" y="1417387"/>
            <a:ext cx="15902549" cy="87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3"/>
              </a:lnSpc>
            </a:pPr>
            <a:r>
              <a:rPr lang="en-US" sz="551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Phương pháp triển khai của 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762" y="3132887"/>
            <a:ext cx="16172078" cy="45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651">
                <a:solidFill>
                  <a:srgbClr val="C9D6FF"/>
                </a:solidFill>
                <a:latin typeface="Inter"/>
                <a:ea typeface="Inter"/>
                <a:cs typeface="Inter"/>
                <a:sym typeface="Inter"/>
              </a:rPr>
              <a:t>Đúc kết từ hơn 12,000 khách hàng đã triển khai cùng Base.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50223" y="808606"/>
            <a:ext cx="2857071" cy="1078135"/>
            <a:chOff x="0" y="0"/>
            <a:chExt cx="3809428" cy="14375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09492" cy="1437513"/>
            </a:xfrm>
            <a:custGeom>
              <a:avLst/>
              <a:gdLst/>
              <a:ahLst/>
              <a:cxnLst/>
              <a:rect r="r" b="b" t="t" l="l"/>
              <a:pathLst>
                <a:path h="1437513" w="380949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3521964" y="0"/>
                  </a:lnTo>
                  <a:cubicBezTo>
                    <a:pt x="3680714" y="0"/>
                    <a:pt x="3809492" y="128778"/>
                    <a:pt x="3809492" y="287528"/>
                  </a:cubicBezTo>
                  <a:lnTo>
                    <a:pt x="3809492" y="1149985"/>
                  </a:lnTo>
                  <a:cubicBezTo>
                    <a:pt x="3809492" y="1308735"/>
                    <a:pt x="3680714" y="1437513"/>
                    <a:pt x="3521964" y="1437513"/>
                  </a:cubicBezTo>
                  <a:lnTo>
                    <a:pt x="287528" y="1437513"/>
                  </a:lnTo>
                  <a:cubicBezTo>
                    <a:pt x="128778" y="1437513"/>
                    <a:pt x="0" y="1308735"/>
                    <a:pt x="0" y="11499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411938" y="916419"/>
            <a:ext cx="2533621" cy="862508"/>
            <a:chOff x="0" y="0"/>
            <a:chExt cx="3378162" cy="1150010"/>
          </a:xfrm>
        </p:grpSpPr>
        <p:sp>
          <p:nvSpPr>
            <p:cNvPr name="Freeform 10" id="10" descr="i3.png"/>
            <p:cNvSpPr/>
            <p:nvPr/>
          </p:nvSpPr>
          <p:spPr>
            <a:xfrm flipH="false" flipV="false" rot="0">
              <a:off x="0" y="0"/>
              <a:ext cx="3378200" cy="1149985"/>
            </a:xfrm>
            <a:custGeom>
              <a:avLst/>
              <a:gdLst/>
              <a:ahLst/>
              <a:cxnLst/>
              <a:rect r="r" b="b" t="t" l="l"/>
              <a:pathLst>
                <a:path h="1149985" w="3378200">
                  <a:moveTo>
                    <a:pt x="0" y="0"/>
                  </a:moveTo>
                  <a:lnTo>
                    <a:pt x="3378200" y="0"/>
                  </a:lnTo>
                  <a:lnTo>
                    <a:pt x="3378200" y="1149985"/>
                  </a:lnTo>
                  <a:lnTo>
                    <a:pt x="0" y="1149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3762" y="4582087"/>
            <a:ext cx="18813523" cy="1509398"/>
            <a:chOff x="0" y="0"/>
            <a:chExt cx="25084697" cy="20125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084787" cy="2012569"/>
            </a:xfrm>
            <a:custGeom>
              <a:avLst/>
              <a:gdLst/>
              <a:ahLst/>
              <a:cxnLst/>
              <a:rect r="r" b="b" t="t" l="l"/>
              <a:pathLst>
                <a:path h="2012569" w="25084787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24725376" y="0"/>
                  </a:lnTo>
                  <a:cubicBezTo>
                    <a:pt x="24923877" y="0"/>
                    <a:pt x="25084787" y="160909"/>
                    <a:pt x="25084787" y="359410"/>
                  </a:cubicBezTo>
                  <a:lnTo>
                    <a:pt x="25084787" y="1653159"/>
                  </a:lnTo>
                  <a:cubicBezTo>
                    <a:pt x="25084787" y="1851660"/>
                    <a:pt x="24923877" y="2012569"/>
                    <a:pt x="24725376" y="2012569"/>
                  </a:cubicBezTo>
                  <a:lnTo>
                    <a:pt x="359410" y="2012569"/>
                  </a:lnTo>
                  <a:cubicBezTo>
                    <a:pt x="160909" y="2012569"/>
                    <a:pt x="0" y="1851660"/>
                    <a:pt x="0" y="1653159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17212" y="5040297"/>
            <a:ext cx="592979" cy="592979"/>
            <a:chOff x="0" y="0"/>
            <a:chExt cx="790638" cy="7906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0575" cy="790575"/>
            </a:xfrm>
            <a:custGeom>
              <a:avLst/>
              <a:gdLst/>
              <a:ahLst/>
              <a:cxnLst/>
              <a:rect r="r" b="b" t="t" l="l"/>
              <a:pathLst>
                <a:path h="790575" w="790575">
                  <a:moveTo>
                    <a:pt x="0" y="395351"/>
                  </a:moveTo>
                  <a:cubicBezTo>
                    <a:pt x="0" y="177038"/>
                    <a:pt x="177038" y="0"/>
                    <a:pt x="395351" y="0"/>
                  </a:cubicBezTo>
                  <a:cubicBezTo>
                    <a:pt x="613664" y="0"/>
                    <a:pt x="790575" y="177038"/>
                    <a:pt x="790575" y="395351"/>
                  </a:cubicBezTo>
                  <a:cubicBezTo>
                    <a:pt x="790575" y="613664"/>
                    <a:pt x="613664" y="790575"/>
                    <a:pt x="395351" y="790575"/>
                  </a:cubicBezTo>
                  <a:cubicBezTo>
                    <a:pt x="177038" y="790575"/>
                    <a:pt x="0" y="613664"/>
                    <a:pt x="0" y="395351"/>
                  </a:cubicBezTo>
                  <a:close/>
                </a:path>
              </a:pathLst>
            </a:custGeom>
            <a:solidFill>
              <a:srgbClr val="FFD96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17212" y="5040297"/>
            <a:ext cx="592979" cy="592976"/>
            <a:chOff x="0" y="0"/>
            <a:chExt cx="790638" cy="7906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0635" cy="790632"/>
            </a:xfrm>
            <a:custGeom>
              <a:avLst/>
              <a:gdLst/>
              <a:ahLst/>
              <a:cxnLst/>
              <a:rect r="r" b="b" t="t" l="l"/>
              <a:pathLst>
                <a:path h="790632" w="790635">
                  <a:moveTo>
                    <a:pt x="0" y="0"/>
                  </a:moveTo>
                  <a:lnTo>
                    <a:pt x="790635" y="0"/>
                  </a:lnTo>
                  <a:lnTo>
                    <a:pt x="790635" y="790632"/>
                  </a:lnTo>
                  <a:lnTo>
                    <a:pt x="0" y="790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90638" cy="83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546" b="true">
                  <a:solidFill>
                    <a:srgbClr val="0312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533621" y="4740564"/>
            <a:ext cx="6199299" cy="47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5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Khảo sát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33621" y="5333543"/>
            <a:ext cx="6199299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 đến 10 ngày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79810" y="4582087"/>
            <a:ext cx="10296220" cy="1509394"/>
            <a:chOff x="0" y="0"/>
            <a:chExt cx="13728294" cy="20125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28300" cy="2012520"/>
            </a:xfrm>
            <a:custGeom>
              <a:avLst/>
              <a:gdLst/>
              <a:ahLst/>
              <a:cxnLst/>
              <a:rect r="r" b="b" t="t" l="l"/>
              <a:pathLst>
                <a:path h="2012520" w="13728300">
                  <a:moveTo>
                    <a:pt x="0" y="0"/>
                  </a:moveTo>
                  <a:lnTo>
                    <a:pt x="13728300" y="0"/>
                  </a:lnTo>
                  <a:lnTo>
                    <a:pt x="13728300" y="2012520"/>
                  </a:lnTo>
                  <a:lnTo>
                    <a:pt x="0" y="2012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915" r="0" b="-829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728294" cy="2060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5"/>
                </a:lnSpc>
              </a:pPr>
              <a:r>
                <a:rPr lang="en-US" sz="2439">
                  <a:solidFill>
                    <a:srgbClr val="0B1B44"/>
                  </a:solidFill>
                  <a:latin typeface="Inter"/>
                  <a:ea typeface="Inter"/>
                  <a:cs typeface="Inter"/>
                  <a:sym typeface="Inter"/>
                </a:rPr>
                <a:t>Khảo sát </a:t>
              </a:r>
              <a:r>
                <a:rPr lang="en-US" sz="2439">
                  <a:solidFill>
                    <a:srgbClr val="0B1B44"/>
                  </a:solidFill>
                  <a:latin typeface="Inter"/>
                  <a:ea typeface="Inter"/>
                  <a:cs typeface="Inter"/>
                  <a:sym typeface="Inter"/>
                </a:rPr>
                <a:t>lãnh đạo và trưởng bộ phận; chọn từ kho 100+ mẫu quy trình.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93762" y="6307112"/>
            <a:ext cx="18813523" cy="1509398"/>
            <a:chOff x="0" y="0"/>
            <a:chExt cx="25084697" cy="20125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084787" cy="2012569"/>
            </a:xfrm>
            <a:custGeom>
              <a:avLst/>
              <a:gdLst/>
              <a:ahLst/>
              <a:cxnLst/>
              <a:rect r="r" b="b" t="t" l="l"/>
              <a:pathLst>
                <a:path h="2012569" w="25084787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24725376" y="0"/>
                  </a:lnTo>
                  <a:cubicBezTo>
                    <a:pt x="24923877" y="0"/>
                    <a:pt x="25084787" y="160909"/>
                    <a:pt x="25084787" y="359410"/>
                  </a:cubicBezTo>
                  <a:lnTo>
                    <a:pt x="25084787" y="1653159"/>
                  </a:lnTo>
                  <a:cubicBezTo>
                    <a:pt x="25084787" y="1851660"/>
                    <a:pt x="24923877" y="2012569"/>
                    <a:pt x="24725376" y="2012569"/>
                  </a:cubicBezTo>
                  <a:lnTo>
                    <a:pt x="359410" y="2012569"/>
                  </a:lnTo>
                  <a:cubicBezTo>
                    <a:pt x="160909" y="2012569"/>
                    <a:pt x="0" y="1851660"/>
                    <a:pt x="0" y="1653159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17212" y="6765322"/>
            <a:ext cx="592979" cy="592979"/>
            <a:chOff x="0" y="0"/>
            <a:chExt cx="790638" cy="7906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0575" cy="790575"/>
            </a:xfrm>
            <a:custGeom>
              <a:avLst/>
              <a:gdLst/>
              <a:ahLst/>
              <a:cxnLst/>
              <a:rect r="r" b="b" t="t" l="l"/>
              <a:pathLst>
                <a:path h="790575" w="790575">
                  <a:moveTo>
                    <a:pt x="0" y="395351"/>
                  </a:moveTo>
                  <a:cubicBezTo>
                    <a:pt x="0" y="177038"/>
                    <a:pt x="177038" y="0"/>
                    <a:pt x="395351" y="0"/>
                  </a:cubicBezTo>
                  <a:cubicBezTo>
                    <a:pt x="613664" y="0"/>
                    <a:pt x="790575" y="177038"/>
                    <a:pt x="790575" y="395351"/>
                  </a:cubicBezTo>
                  <a:cubicBezTo>
                    <a:pt x="790575" y="613664"/>
                    <a:pt x="613664" y="790575"/>
                    <a:pt x="395351" y="790575"/>
                  </a:cubicBezTo>
                  <a:cubicBezTo>
                    <a:pt x="177038" y="790575"/>
                    <a:pt x="0" y="613664"/>
                    <a:pt x="0" y="395351"/>
                  </a:cubicBezTo>
                  <a:close/>
                </a:path>
              </a:pathLst>
            </a:custGeom>
            <a:solidFill>
              <a:srgbClr val="FFD96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17212" y="6765322"/>
            <a:ext cx="592979" cy="592976"/>
            <a:chOff x="0" y="0"/>
            <a:chExt cx="790638" cy="7906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0635" cy="790632"/>
            </a:xfrm>
            <a:custGeom>
              <a:avLst/>
              <a:gdLst/>
              <a:ahLst/>
              <a:cxnLst/>
              <a:rect r="r" b="b" t="t" l="l"/>
              <a:pathLst>
                <a:path h="790632" w="790635">
                  <a:moveTo>
                    <a:pt x="0" y="0"/>
                  </a:moveTo>
                  <a:lnTo>
                    <a:pt x="790635" y="0"/>
                  </a:lnTo>
                  <a:lnTo>
                    <a:pt x="790635" y="790632"/>
                  </a:lnTo>
                  <a:lnTo>
                    <a:pt x="0" y="790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90638" cy="83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546" b="true">
                  <a:solidFill>
                    <a:srgbClr val="0312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533621" y="6465589"/>
            <a:ext cx="6199299" cy="47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5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Thiết lập và kiểm thử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33621" y="7058568"/>
            <a:ext cx="6199299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0 đến 30 ngày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379810" y="6307112"/>
            <a:ext cx="10296220" cy="1509394"/>
            <a:chOff x="0" y="0"/>
            <a:chExt cx="13728294" cy="201252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728300" cy="2012520"/>
            </a:xfrm>
            <a:custGeom>
              <a:avLst/>
              <a:gdLst/>
              <a:ahLst/>
              <a:cxnLst/>
              <a:rect r="r" b="b" t="t" l="l"/>
              <a:pathLst>
                <a:path h="2012520" w="13728300">
                  <a:moveTo>
                    <a:pt x="0" y="0"/>
                  </a:moveTo>
                  <a:lnTo>
                    <a:pt x="13728300" y="0"/>
                  </a:lnTo>
                  <a:lnTo>
                    <a:pt x="13728300" y="2012520"/>
                  </a:lnTo>
                  <a:lnTo>
                    <a:pt x="0" y="2012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915" r="0" b="-8291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3728294" cy="2060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5"/>
                </a:lnSpc>
              </a:pPr>
              <a:r>
                <a:rPr lang="en-US" sz="2439">
                  <a:solidFill>
                    <a:srgbClr val="0B1B44"/>
                  </a:solidFill>
                  <a:latin typeface="Inter"/>
                  <a:ea typeface="Inter"/>
                  <a:cs typeface="Inter"/>
                  <a:sym typeface="Inter"/>
                </a:rPr>
                <a:t>Mô hình chữ V, mục tiêu khớp thực tế từ 80%.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93762" y="8032137"/>
            <a:ext cx="18813523" cy="1509398"/>
            <a:chOff x="0" y="0"/>
            <a:chExt cx="25084697" cy="20125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084787" cy="2012569"/>
            </a:xfrm>
            <a:custGeom>
              <a:avLst/>
              <a:gdLst/>
              <a:ahLst/>
              <a:cxnLst/>
              <a:rect r="r" b="b" t="t" l="l"/>
              <a:pathLst>
                <a:path h="2012569" w="25084787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24725376" y="0"/>
                  </a:lnTo>
                  <a:cubicBezTo>
                    <a:pt x="24923877" y="0"/>
                    <a:pt x="25084787" y="160909"/>
                    <a:pt x="25084787" y="359410"/>
                  </a:cubicBezTo>
                  <a:lnTo>
                    <a:pt x="25084787" y="1653159"/>
                  </a:lnTo>
                  <a:cubicBezTo>
                    <a:pt x="25084787" y="1851660"/>
                    <a:pt x="24923877" y="2012569"/>
                    <a:pt x="24725376" y="2012569"/>
                  </a:cubicBezTo>
                  <a:lnTo>
                    <a:pt x="359410" y="2012569"/>
                  </a:lnTo>
                  <a:cubicBezTo>
                    <a:pt x="160909" y="2012569"/>
                    <a:pt x="0" y="1851660"/>
                    <a:pt x="0" y="1653159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17212" y="8490347"/>
            <a:ext cx="592979" cy="592979"/>
            <a:chOff x="0" y="0"/>
            <a:chExt cx="790638" cy="79063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90575" cy="790575"/>
            </a:xfrm>
            <a:custGeom>
              <a:avLst/>
              <a:gdLst/>
              <a:ahLst/>
              <a:cxnLst/>
              <a:rect r="r" b="b" t="t" l="l"/>
              <a:pathLst>
                <a:path h="790575" w="790575">
                  <a:moveTo>
                    <a:pt x="0" y="395351"/>
                  </a:moveTo>
                  <a:cubicBezTo>
                    <a:pt x="0" y="177038"/>
                    <a:pt x="177038" y="0"/>
                    <a:pt x="395351" y="0"/>
                  </a:cubicBezTo>
                  <a:cubicBezTo>
                    <a:pt x="613664" y="0"/>
                    <a:pt x="790575" y="177038"/>
                    <a:pt x="790575" y="395351"/>
                  </a:cubicBezTo>
                  <a:cubicBezTo>
                    <a:pt x="790575" y="613664"/>
                    <a:pt x="613664" y="790575"/>
                    <a:pt x="395351" y="790575"/>
                  </a:cubicBezTo>
                  <a:cubicBezTo>
                    <a:pt x="177038" y="790575"/>
                    <a:pt x="0" y="613664"/>
                    <a:pt x="0" y="395351"/>
                  </a:cubicBezTo>
                  <a:close/>
                </a:path>
              </a:pathLst>
            </a:custGeom>
            <a:solidFill>
              <a:srgbClr val="FFD96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617212" y="8490347"/>
            <a:ext cx="592979" cy="592976"/>
            <a:chOff x="0" y="0"/>
            <a:chExt cx="790638" cy="7906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90635" cy="790632"/>
            </a:xfrm>
            <a:custGeom>
              <a:avLst/>
              <a:gdLst/>
              <a:ahLst/>
              <a:cxnLst/>
              <a:rect r="r" b="b" t="t" l="l"/>
              <a:pathLst>
                <a:path h="790632" w="790635">
                  <a:moveTo>
                    <a:pt x="0" y="0"/>
                  </a:moveTo>
                  <a:lnTo>
                    <a:pt x="790635" y="0"/>
                  </a:lnTo>
                  <a:lnTo>
                    <a:pt x="790635" y="790632"/>
                  </a:lnTo>
                  <a:lnTo>
                    <a:pt x="0" y="790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90638" cy="83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546" b="true">
                  <a:solidFill>
                    <a:srgbClr val="0312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533621" y="8190614"/>
            <a:ext cx="6199299" cy="47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5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Truyền thông nội bộ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33621" y="8783584"/>
            <a:ext cx="6199299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 đến 3 ngày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379810" y="8032137"/>
            <a:ext cx="10296220" cy="1509394"/>
            <a:chOff x="0" y="0"/>
            <a:chExt cx="13728294" cy="201252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728300" cy="2012520"/>
            </a:xfrm>
            <a:custGeom>
              <a:avLst/>
              <a:gdLst/>
              <a:ahLst/>
              <a:cxnLst/>
              <a:rect r="r" b="b" t="t" l="l"/>
              <a:pathLst>
                <a:path h="2012520" w="13728300">
                  <a:moveTo>
                    <a:pt x="0" y="0"/>
                  </a:moveTo>
                  <a:lnTo>
                    <a:pt x="13728300" y="0"/>
                  </a:lnTo>
                  <a:lnTo>
                    <a:pt x="13728300" y="2012520"/>
                  </a:lnTo>
                  <a:lnTo>
                    <a:pt x="0" y="2012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915" r="0" b="-8291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3728294" cy="2060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5"/>
                </a:lnSpc>
              </a:pPr>
              <a:r>
                <a:rPr lang="en-US" sz="2439">
                  <a:solidFill>
                    <a:srgbClr val="0B1B44"/>
                  </a:solidFill>
                  <a:latin typeface="Inter"/>
                  <a:ea typeface="Inter"/>
                  <a:cs typeface="Inter"/>
                  <a:sym typeface="Inter"/>
                </a:rPr>
                <a:t>Chuẩn bị đội ngũ trước khi vận hành.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93762" y="9757153"/>
            <a:ext cx="18813523" cy="1509398"/>
            <a:chOff x="0" y="0"/>
            <a:chExt cx="25084697" cy="20125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084787" cy="2012569"/>
            </a:xfrm>
            <a:custGeom>
              <a:avLst/>
              <a:gdLst/>
              <a:ahLst/>
              <a:cxnLst/>
              <a:rect r="r" b="b" t="t" l="l"/>
              <a:pathLst>
                <a:path h="2012569" w="25084787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24725376" y="0"/>
                  </a:lnTo>
                  <a:cubicBezTo>
                    <a:pt x="24923877" y="0"/>
                    <a:pt x="25084787" y="160909"/>
                    <a:pt x="25084787" y="359410"/>
                  </a:cubicBezTo>
                  <a:lnTo>
                    <a:pt x="25084787" y="1653159"/>
                  </a:lnTo>
                  <a:cubicBezTo>
                    <a:pt x="25084787" y="1851660"/>
                    <a:pt x="24923877" y="2012569"/>
                    <a:pt x="24725376" y="2012569"/>
                  </a:cubicBezTo>
                  <a:lnTo>
                    <a:pt x="359410" y="2012569"/>
                  </a:lnTo>
                  <a:cubicBezTo>
                    <a:pt x="160909" y="2012569"/>
                    <a:pt x="0" y="1851660"/>
                    <a:pt x="0" y="1653159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617212" y="10215362"/>
            <a:ext cx="592979" cy="592979"/>
            <a:chOff x="0" y="0"/>
            <a:chExt cx="790638" cy="79063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90575" cy="790575"/>
            </a:xfrm>
            <a:custGeom>
              <a:avLst/>
              <a:gdLst/>
              <a:ahLst/>
              <a:cxnLst/>
              <a:rect r="r" b="b" t="t" l="l"/>
              <a:pathLst>
                <a:path h="790575" w="790575">
                  <a:moveTo>
                    <a:pt x="0" y="395351"/>
                  </a:moveTo>
                  <a:cubicBezTo>
                    <a:pt x="0" y="177038"/>
                    <a:pt x="177038" y="0"/>
                    <a:pt x="395351" y="0"/>
                  </a:cubicBezTo>
                  <a:cubicBezTo>
                    <a:pt x="613664" y="0"/>
                    <a:pt x="790575" y="177038"/>
                    <a:pt x="790575" y="395351"/>
                  </a:cubicBezTo>
                  <a:cubicBezTo>
                    <a:pt x="790575" y="613664"/>
                    <a:pt x="613664" y="790575"/>
                    <a:pt x="395351" y="790575"/>
                  </a:cubicBezTo>
                  <a:cubicBezTo>
                    <a:pt x="177038" y="790575"/>
                    <a:pt x="0" y="613664"/>
                    <a:pt x="0" y="395351"/>
                  </a:cubicBezTo>
                  <a:close/>
                </a:path>
              </a:pathLst>
            </a:custGeom>
            <a:solidFill>
              <a:srgbClr val="FFD96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617212" y="10215362"/>
            <a:ext cx="592979" cy="592976"/>
            <a:chOff x="0" y="0"/>
            <a:chExt cx="790638" cy="79063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90635" cy="790632"/>
            </a:xfrm>
            <a:custGeom>
              <a:avLst/>
              <a:gdLst/>
              <a:ahLst/>
              <a:cxnLst/>
              <a:rect r="r" b="b" t="t" l="l"/>
              <a:pathLst>
                <a:path h="790632" w="790635">
                  <a:moveTo>
                    <a:pt x="0" y="0"/>
                  </a:moveTo>
                  <a:lnTo>
                    <a:pt x="790635" y="0"/>
                  </a:lnTo>
                  <a:lnTo>
                    <a:pt x="790635" y="790632"/>
                  </a:lnTo>
                  <a:lnTo>
                    <a:pt x="0" y="790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790638" cy="83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546" b="true">
                  <a:solidFill>
                    <a:srgbClr val="0312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533621" y="9915630"/>
            <a:ext cx="6199299" cy="47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5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Đào tạo và cấp chứng chỉ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533621" y="10508609"/>
            <a:ext cx="6199299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7</a:t>
            </a: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 đến 10 ngày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379810" y="9757153"/>
            <a:ext cx="10296220" cy="1509394"/>
            <a:chOff x="0" y="0"/>
            <a:chExt cx="13728294" cy="201252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728300" cy="2012520"/>
            </a:xfrm>
            <a:custGeom>
              <a:avLst/>
              <a:gdLst/>
              <a:ahLst/>
              <a:cxnLst/>
              <a:rect r="r" b="b" t="t" l="l"/>
              <a:pathLst>
                <a:path h="2012520" w="13728300">
                  <a:moveTo>
                    <a:pt x="0" y="0"/>
                  </a:moveTo>
                  <a:lnTo>
                    <a:pt x="13728300" y="0"/>
                  </a:lnTo>
                  <a:lnTo>
                    <a:pt x="13728300" y="2012520"/>
                  </a:lnTo>
                  <a:lnTo>
                    <a:pt x="0" y="2012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915" r="0" b="-8291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3728294" cy="2060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5"/>
                </a:lnSpc>
              </a:pPr>
              <a:r>
                <a:rPr lang="en-US" sz="2439">
                  <a:solidFill>
                    <a:srgbClr val="0B1B44"/>
                  </a:solidFill>
                  <a:latin typeface="Inter"/>
                  <a:ea typeface="Inter"/>
                  <a:cs typeface="Inter"/>
                  <a:sym typeface="Inter"/>
                </a:rPr>
                <a:t>3C: Course, Check, Certificate; đào tạo riêng 1:1 cho lãnh đạo.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93762" y="11482178"/>
            <a:ext cx="18813523" cy="1509398"/>
            <a:chOff x="0" y="0"/>
            <a:chExt cx="25084697" cy="20125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084787" cy="2012569"/>
            </a:xfrm>
            <a:custGeom>
              <a:avLst/>
              <a:gdLst/>
              <a:ahLst/>
              <a:cxnLst/>
              <a:rect r="r" b="b" t="t" l="l"/>
              <a:pathLst>
                <a:path h="2012569" w="25084787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24725376" y="0"/>
                  </a:lnTo>
                  <a:cubicBezTo>
                    <a:pt x="24923877" y="0"/>
                    <a:pt x="25084787" y="160909"/>
                    <a:pt x="25084787" y="359410"/>
                  </a:cubicBezTo>
                  <a:lnTo>
                    <a:pt x="25084787" y="1653159"/>
                  </a:lnTo>
                  <a:cubicBezTo>
                    <a:pt x="25084787" y="1851660"/>
                    <a:pt x="24923877" y="2012569"/>
                    <a:pt x="24725376" y="2012569"/>
                  </a:cubicBezTo>
                  <a:lnTo>
                    <a:pt x="359410" y="2012569"/>
                  </a:lnTo>
                  <a:cubicBezTo>
                    <a:pt x="160909" y="2012569"/>
                    <a:pt x="0" y="1851660"/>
                    <a:pt x="0" y="1653159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17212" y="11940388"/>
            <a:ext cx="592979" cy="592979"/>
            <a:chOff x="0" y="0"/>
            <a:chExt cx="790638" cy="79063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90575" cy="790575"/>
            </a:xfrm>
            <a:custGeom>
              <a:avLst/>
              <a:gdLst/>
              <a:ahLst/>
              <a:cxnLst/>
              <a:rect r="r" b="b" t="t" l="l"/>
              <a:pathLst>
                <a:path h="790575" w="790575">
                  <a:moveTo>
                    <a:pt x="0" y="395351"/>
                  </a:moveTo>
                  <a:cubicBezTo>
                    <a:pt x="0" y="177038"/>
                    <a:pt x="177038" y="0"/>
                    <a:pt x="395351" y="0"/>
                  </a:cubicBezTo>
                  <a:cubicBezTo>
                    <a:pt x="613664" y="0"/>
                    <a:pt x="790575" y="177038"/>
                    <a:pt x="790575" y="395351"/>
                  </a:cubicBezTo>
                  <a:cubicBezTo>
                    <a:pt x="790575" y="613664"/>
                    <a:pt x="613664" y="790575"/>
                    <a:pt x="395351" y="790575"/>
                  </a:cubicBezTo>
                  <a:cubicBezTo>
                    <a:pt x="177038" y="790575"/>
                    <a:pt x="0" y="613664"/>
                    <a:pt x="0" y="395351"/>
                  </a:cubicBezTo>
                  <a:close/>
                </a:path>
              </a:pathLst>
            </a:custGeom>
            <a:solidFill>
              <a:srgbClr val="FFD966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617212" y="11940388"/>
            <a:ext cx="592979" cy="592976"/>
            <a:chOff x="0" y="0"/>
            <a:chExt cx="790638" cy="79063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90635" cy="790632"/>
            </a:xfrm>
            <a:custGeom>
              <a:avLst/>
              <a:gdLst/>
              <a:ahLst/>
              <a:cxnLst/>
              <a:rect r="r" b="b" t="t" l="l"/>
              <a:pathLst>
                <a:path h="790632" w="790635">
                  <a:moveTo>
                    <a:pt x="0" y="0"/>
                  </a:moveTo>
                  <a:lnTo>
                    <a:pt x="790635" y="0"/>
                  </a:lnTo>
                  <a:lnTo>
                    <a:pt x="790635" y="790632"/>
                  </a:lnTo>
                  <a:lnTo>
                    <a:pt x="0" y="790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790638" cy="83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546" b="true">
                  <a:solidFill>
                    <a:srgbClr val="0312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2533621" y="11640655"/>
            <a:ext cx="6199299" cy="47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759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Hypercare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533621" y="12233634"/>
            <a:ext cx="6199299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3 đến 6 tháng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379810" y="11482178"/>
            <a:ext cx="10296220" cy="1509394"/>
            <a:chOff x="0" y="0"/>
            <a:chExt cx="13728294" cy="201252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728300" cy="2012520"/>
            </a:xfrm>
            <a:custGeom>
              <a:avLst/>
              <a:gdLst/>
              <a:ahLst/>
              <a:cxnLst/>
              <a:rect r="r" b="b" t="t" l="l"/>
              <a:pathLst>
                <a:path h="2012520" w="13728300">
                  <a:moveTo>
                    <a:pt x="0" y="0"/>
                  </a:moveTo>
                  <a:lnTo>
                    <a:pt x="13728300" y="0"/>
                  </a:lnTo>
                  <a:lnTo>
                    <a:pt x="13728300" y="2012520"/>
                  </a:lnTo>
                  <a:lnTo>
                    <a:pt x="0" y="2012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915" r="0" b="-8291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3728294" cy="2060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5"/>
                </a:lnSpc>
              </a:pPr>
              <a:r>
                <a:rPr lang="en-US" sz="2439">
                  <a:solidFill>
                    <a:srgbClr val="0B1B44"/>
                  </a:solidFill>
                  <a:latin typeface="Inter"/>
                  <a:ea typeface="Inter"/>
                  <a:cs typeface="Inter"/>
                  <a:sym typeface="Inter"/>
                </a:rPr>
                <a:t>Báo cáo hiệu quả tuần, tháng, quý và họp Business Review.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293762" y="13517870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Mô hình chữ V: thiết kế đến đâu, kiểm thử đến đó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293762" y="14285338"/>
            <a:ext cx="5121154" cy="1132046"/>
            <a:chOff x="0" y="0"/>
            <a:chExt cx="6828206" cy="150939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28282" cy="1509395"/>
            </a:xfrm>
            <a:custGeom>
              <a:avLst/>
              <a:gdLst/>
              <a:ahLst/>
              <a:cxnLst/>
              <a:rect r="r" b="b" t="t" l="l"/>
              <a:pathLst>
                <a:path h="1509395" w="682828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6540754" y="0"/>
                  </a:lnTo>
                  <a:cubicBezTo>
                    <a:pt x="6699504" y="0"/>
                    <a:pt x="6828282" y="128778"/>
                    <a:pt x="6828282" y="287528"/>
                  </a:cubicBezTo>
                  <a:lnTo>
                    <a:pt x="6828282" y="1221867"/>
                  </a:lnTo>
                  <a:cubicBezTo>
                    <a:pt x="6828282" y="1380617"/>
                    <a:pt x="6699504" y="1509395"/>
                    <a:pt x="6540754" y="1509395"/>
                  </a:cubicBezTo>
                  <a:lnTo>
                    <a:pt x="287528" y="1509395"/>
                  </a:lnTo>
                  <a:cubicBezTo>
                    <a:pt x="128778" y="1509395"/>
                    <a:pt x="0" y="1380617"/>
                    <a:pt x="0" y="1221867"/>
                  </a:cubicBezTo>
                  <a:close/>
                </a:path>
              </a:pathLst>
            </a:custGeom>
            <a:solidFill>
              <a:srgbClr val="2565FF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93762" y="14285338"/>
            <a:ext cx="5121154" cy="1132046"/>
            <a:chOff x="0" y="0"/>
            <a:chExt cx="6828206" cy="150939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8212" cy="1509393"/>
            </a:xfrm>
            <a:custGeom>
              <a:avLst/>
              <a:gdLst/>
              <a:ahLst/>
              <a:cxnLst/>
              <a:rect r="r" b="b" t="t" l="l"/>
              <a:pathLst>
                <a:path h="1509393" w="6828212">
                  <a:moveTo>
                    <a:pt x="0" y="0"/>
                  </a:moveTo>
                  <a:lnTo>
                    <a:pt x="6828212" y="0"/>
                  </a:lnTo>
                  <a:lnTo>
                    <a:pt x="6828212" y="1509393"/>
                  </a:lnTo>
                  <a:lnTo>
                    <a:pt x="0" y="1509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6" r="0" b="-3814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6828206" cy="1566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Thiết kế yêu cầu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986130" y="14285338"/>
            <a:ext cx="5121154" cy="1132046"/>
            <a:chOff x="0" y="0"/>
            <a:chExt cx="6828206" cy="150939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8282" cy="1509395"/>
            </a:xfrm>
            <a:custGeom>
              <a:avLst/>
              <a:gdLst/>
              <a:ahLst/>
              <a:cxnLst/>
              <a:rect r="r" b="b" t="t" l="l"/>
              <a:pathLst>
                <a:path h="1509395" w="682828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6540754" y="0"/>
                  </a:lnTo>
                  <a:cubicBezTo>
                    <a:pt x="6699504" y="0"/>
                    <a:pt x="6828282" y="128778"/>
                    <a:pt x="6828282" y="287528"/>
                  </a:cubicBezTo>
                  <a:lnTo>
                    <a:pt x="6828282" y="1221867"/>
                  </a:lnTo>
                  <a:cubicBezTo>
                    <a:pt x="6828282" y="1380617"/>
                    <a:pt x="6699504" y="1509395"/>
                    <a:pt x="6540754" y="1509395"/>
                  </a:cubicBezTo>
                  <a:lnTo>
                    <a:pt x="287528" y="1509395"/>
                  </a:lnTo>
                  <a:cubicBezTo>
                    <a:pt x="128778" y="1509395"/>
                    <a:pt x="0" y="1380617"/>
                    <a:pt x="0" y="1221867"/>
                  </a:cubicBezTo>
                  <a:close/>
                </a:path>
              </a:pathLst>
            </a:custGeom>
            <a:solidFill>
              <a:srgbClr val="13578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4986130" y="14285338"/>
            <a:ext cx="5121154" cy="1132046"/>
            <a:chOff x="0" y="0"/>
            <a:chExt cx="6828206" cy="150939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828212" cy="1509393"/>
            </a:xfrm>
            <a:custGeom>
              <a:avLst/>
              <a:gdLst/>
              <a:ahLst/>
              <a:cxnLst/>
              <a:rect r="r" b="b" t="t" l="l"/>
              <a:pathLst>
                <a:path h="1509393" w="6828212">
                  <a:moveTo>
                    <a:pt x="0" y="0"/>
                  </a:moveTo>
                  <a:lnTo>
                    <a:pt x="6828212" y="0"/>
                  </a:lnTo>
                  <a:lnTo>
                    <a:pt x="6828212" y="1509393"/>
                  </a:lnTo>
                  <a:lnTo>
                    <a:pt x="0" y="1509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6" r="0" b="-3814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6828206" cy="1566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Chấp nhận (UAT)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394714" y="14804193"/>
            <a:ext cx="8611629" cy="43120"/>
            <a:chOff x="0" y="0"/>
            <a:chExt cx="11482172" cy="5749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482197" cy="57531"/>
            </a:xfrm>
            <a:custGeom>
              <a:avLst/>
              <a:gdLst/>
              <a:ahLst/>
              <a:cxnLst/>
              <a:rect r="r" b="b" t="t" l="l"/>
              <a:pathLst>
                <a:path h="57531" w="11482197">
                  <a:moveTo>
                    <a:pt x="0" y="0"/>
                  </a:moveTo>
                  <a:lnTo>
                    <a:pt x="11482197" y="0"/>
                  </a:lnTo>
                  <a:lnTo>
                    <a:pt x="11482197" y="57531"/>
                  </a:lnTo>
                  <a:lnTo>
                    <a:pt x="0" y="57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8902" r="0" b="-3838836"/>
              </a:stretch>
            </a:blipFill>
            <a:ln w="40429" cap="sq">
              <a:solidFill>
                <a:srgbClr val="C9D6FF"/>
              </a:solidFill>
              <a:prstDash val="dash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2641444" y="15740824"/>
            <a:ext cx="5121154" cy="1132046"/>
            <a:chOff x="0" y="0"/>
            <a:chExt cx="6828206" cy="150939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828282" cy="1509395"/>
            </a:xfrm>
            <a:custGeom>
              <a:avLst/>
              <a:gdLst/>
              <a:ahLst/>
              <a:cxnLst/>
              <a:rect r="r" b="b" t="t" l="l"/>
              <a:pathLst>
                <a:path h="1509395" w="682828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6540754" y="0"/>
                  </a:lnTo>
                  <a:cubicBezTo>
                    <a:pt x="6699504" y="0"/>
                    <a:pt x="6828282" y="128778"/>
                    <a:pt x="6828282" y="287528"/>
                  </a:cubicBezTo>
                  <a:lnTo>
                    <a:pt x="6828282" y="1221867"/>
                  </a:lnTo>
                  <a:cubicBezTo>
                    <a:pt x="6828282" y="1380617"/>
                    <a:pt x="6699504" y="1509395"/>
                    <a:pt x="6540754" y="1509395"/>
                  </a:cubicBezTo>
                  <a:lnTo>
                    <a:pt x="287528" y="1509395"/>
                  </a:lnTo>
                  <a:cubicBezTo>
                    <a:pt x="128778" y="1509395"/>
                    <a:pt x="0" y="1380617"/>
                    <a:pt x="0" y="1221867"/>
                  </a:cubicBezTo>
                  <a:close/>
                </a:path>
              </a:pathLst>
            </a:custGeom>
            <a:solidFill>
              <a:srgbClr val="2565F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2641444" y="15740824"/>
            <a:ext cx="5121154" cy="1132046"/>
            <a:chOff x="0" y="0"/>
            <a:chExt cx="6828206" cy="150939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28212" cy="1509393"/>
            </a:xfrm>
            <a:custGeom>
              <a:avLst/>
              <a:gdLst/>
              <a:ahLst/>
              <a:cxnLst/>
              <a:rect r="r" b="b" t="t" l="l"/>
              <a:pathLst>
                <a:path h="1509393" w="6828212">
                  <a:moveTo>
                    <a:pt x="0" y="0"/>
                  </a:moveTo>
                  <a:lnTo>
                    <a:pt x="6828212" y="0"/>
                  </a:lnTo>
                  <a:lnTo>
                    <a:pt x="6828212" y="1509393"/>
                  </a:lnTo>
                  <a:lnTo>
                    <a:pt x="0" y="1509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6" r="0" b="-3814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6828206" cy="1566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Thiết kế quy trình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638457" y="15740824"/>
            <a:ext cx="5121154" cy="1132046"/>
            <a:chOff x="0" y="0"/>
            <a:chExt cx="6828206" cy="150939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28282" cy="1509395"/>
            </a:xfrm>
            <a:custGeom>
              <a:avLst/>
              <a:gdLst/>
              <a:ahLst/>
              <a:cxnLst/>
              <a:rect r="r" b="b" t="t" l="l"/>
              <a:pathLst>
                <a:path h="1509395" w="682828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6540754" y="0"/>
                  </a:lnTo>
                  <a:cubicBezTo>
                    <a:pt x="6699504" y="0"/>
                    <a:pt x="6828282" y="128778"/>
                    <a:pt x="6828282" y="287528"/>
                  </a:cubicBezTo>
                  <a:lnTo>
                    <a:pt x="6828282" y="1221867"/>
                  </a:lnTo>
                  <a:cubicBezTo>
                    <a:pt x="6828282" y="1380617"/>
                    <a:pt x="6699504" y="1509395"/>
                    <a:pt x="6540754" y="1509395"/>
                  </a:cubicBezTo>
                  <a:lnTo>
                    <a:pt x="287528" y="1509395"/>
                  </a:lnTo>
                  <a:cubicBezTo>
                    <a:pt x="128778" y="1509395"/>
                    <a:pt x="0" y="1380617"/>
                    <a:pt x="0" y="1221867"/>
                  </a:cubicBezTo>
                  <a:close/>
                </a:path>
              </a:pathLst>
            </a:custGeom>
            <a:solidFill>
              <a:srgbClr val="13578A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638457" y="15740824"/>
            <a:ext cx="5121154" cy="1132046"/>
            <a:chOff x="0" y="0"/>
            <a:chExt cx="6828206" cy="150939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828212" cy="1509393"/>
            </a:xfrm>
            <a:custGeom>
              <a:avLst/>
              <a:gdLst/>
              <a:ahLst/>
              <a:cxnLst/>
              <a:rect r="r" b="b" t="t" l="l"/>
              <a:pathLst>
                <a:path h="1509393" w="6828212">
                  <a:moveTo>
                    <a:pt x="0" y="0"/>
                  </a:moveTo>
                  <a:lnTo>
                    <a:pt x="6828212" y="0"/>
                  </a:lnTo>
                  <a:lnTo>
                    <a:pt x="6828212" y="1509393"/>
                  </a:lnTo>
                  <a:lnTo>
                    <a:pt x="0" y="1509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6" r="0" b="-3814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6828206" cy="1566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Kiểm thử tích hợp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7742387" y="16259680"/>
            <a:ext cx="5916282" cy="43120"/>
            <a:chOff x="0" y="0"/>
            <a:chExt cx="7888376" cy="5749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888351" cy="57531"/>
            </a:xfrm>
            <a:custGeom>
              <a:avLst/>
              <a:gdLst/>
              <a:ahLst/>
              <a:cxnLst/>
              <a:rect r="r" b="b" t="t" l="l"/>
              <a:pathLst>
                <a:path h="57531" w="7888351">
                  <a:moveTo>
                    <a:pt x="0" y="0"/>
                  </a:moveTo>
                  <a:lnTo>
                    <a:pt x="7888351" y="0"/>
                  </a:lnTo>
                  <a:lnTo>
                    <a:pt x="7888351" y="57531"/>
                  </a:lnTo>
                  <a:lnTo>
                    <a:pt x="0" y="57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1728" r="0" b="-2621662"/>
              </a:stretch>
            </a:blipFill>
            <a:ln w="40429" cap="sq">
              <a:solidFill>
                <a:srgbClr val="C9D6FF"/>
              </a:solidFill>
              <a:prstDash val="dash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3989118" y="17196311"/>
            <a:ext cx="5121154" cy="1132046"/>
            <a:chOff x="0" y="0"/>
            <a:chExt cx="6828206" cy="150939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828282" cy="1509395"/>
            </a:xfrm>
            <a:custGeom>
              <a:avLst/>
              <a:gdLst/>
              <a:ahLst/>
              <a:cxnLst/>
              <a:rect r="r" b="b" t="t" l="l"/>
              <a:pathLst>
                <a:path h="1509395" w="682828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6540754" y="0"/>
                  </a:lnTo>
                  <a:cubicBezTo>
                    <a:pt x="6699504" y="0"/>
                    <a:pt x="6828282" y="128778"/>
                    <a:pt x="6828282" y="287528"/>
                  </a:cubicBezTo>
                  <a:lnTo>
                    <a:pt x="6828282" y="1221867"/>
                  </a:lnTo>
                  <a:cubicBezTo>
                    <a:pt x="6828282" y="1380617"/>
                    <a:pt x="6699504" y="1509395"/>
                    <a:pt x="6540754" y="1509395"/>
                  </a:cubicBezTo>
                  <a:lnTo>
                    <a:pt x="287528" y="1509395"/>
                  </a:lnTo>
                  <a:cubicBezTo>
                    <a:pt x="128778" y="1509395"/>
                    <a:pt x="0" y="1380617"/>
                    <a:pt x="0" y="1221867"/>
                  </a:cubicBezTo>
                  <a:close/>
                </a:path>
              </a:pathLst>
            </a:custGeom>
            <a:solidFill>
              <a:srgbClr val="2565F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3989118" y="17196311"/>
            <a:ext cx="5121154" cy="1132046"/>
            <a:chOff x="0" y="0"/>
            <a:chExt cx="6828206" cy="150939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828212" cy="1509393"/>
            </a:xfrm>
            <a:custGeom>
              <a:avLst/>
              <a:gdLst/>
              <a:ahLst/>
              <a:cxnLst/>
              <a:rect r="r" b="b" t="t" l="l"/>
              <a:pathLst>
                <a:path h="1509393" w="6828212">
                  <a:moveTo>
                    <a:pt x="0" y="0"/>
                  </a:moveTo>
                  <a:lnTo>
                    <a:pt x="6828212" y="0"/>
                  </a:lnTo>
                  <a:lnTo>
                    <a:pt x="6828212" y="1509393"/>
                  </a:lnTo>
                  <a:lnTo>
                    <a:pt x="0" y="1509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6" r="0" b="-3814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6828206" cy="1566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Cấu hình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290784" y="17196311"/>
            <a:ext cx="5121154" cy="1132046"/>
            <a:chOff x="0" y="0"/>
            <a:chExt cx="6828206" cy="150939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828282" cy="1509395"/>
            </a:xfrm>
            <a:custGeom>
              <a:avLst/>
              <a:gdLst/>
              <a:ahLst/>
              <a:cxnLst/>
              <a:rect r="r" b="b" t="t" l="l"/>
              <a:pathLst>
                <a:path h="1509395" w="682828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6540754" y="0"/>
                  </a:lnTo>
                  <a:cubicBezTo>
                    <a:pt x="6699504" y="0"/>
                    <a:pt x="6828282" y="128778"/>
                    <a:pt x="6828282" y="287528"/>
                  </a:cubicBezTo>
                  <a:lnTo>
                    <a:pt x="6828282" y="1221867"/>
                  </a:lnTo>
                  <a:cubicBezTo>
                    <a:pt x="6828282" y="1380617"/>
                    <a:pt x="6699504" y="1509395"/>
                    <a:pt x="6540754" y="1509395"/>
                  </a:cubicBezTo>
                  <a:lnTo>
                    <a:pt x="287528" y="1509395"/>
                  </a:lnTo>
                  <a:cubicBezTo>
                    <a:pt x="128778" y="1509395"/>
                    <a:pt x="0" y="1380617"/>
                    <a:pt x="0" y="1221867"/>
                  </a:cubicBezTo>
                  <a:close/>
                </a:path>
              </a:pathLst>
            </a:custGeom>
            <a:solidFill>
              <a:srgbClr val="13578A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290784" y="17196311"/>
            <a:ext cx="5121154" cy="1132046"/>
            <a:chOff x="0" y="0"/>
            <a:chExt cx="6828206" cy="150939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828212" cy="1509393"/>
            </a:xfrm>
            <a:custGeom>
              <a:avLst/>
              <a:gdLst/>
              <a:ahLst/>
              <a:cxnLst/>
              <a:rect r="r" b="b" t="t" l="l"/>
              <a:pathLst>
                <a:path h="1509393" w="6828212">
                  <a:moveTo>
                    <a:pt x="0" y="0"/>
                  </a:moveTo>
                  <a:lnTo>
                    <a:pt x="6828212" y="0"/>
                  </a:lnTo>
                  <a:lnTo>
                    <a:pt x="6828212" y="1509393"/>
                  </a:lnTo>
                  <a:lnTo>
                    <a:pt x="0" y="1509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46" r="0" b="-3814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6828206" cy="1566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5"/>
                </a:lnSpc>
              </a:pPr>
              <a:r>
                <a:rPr lang="en-US" sz="243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Kiểm thử đơn vị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090060" y="17715166"/>
            <a:ext cx="3220936" cy="43120"/>
            <a:chOff x="0" y="0"/>
            <a:chExt cx="4294581" cy="5749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294632" cy="57531"/>
            </a:xfrm>
            <a:custGeom>
              <a:avLst/>
              <a:gdLst/>
              <a:ahLst/>
              <a:cxnLst/>
              <a:rect r="r" b="b" t="t" l="l"/>
              <a:pathLst>
                <a:path h="57531" w="4294632">
                  <a:moveTo>
                    <a:pt x="0" y="0"/>
                  </a:moveTo>
                  <a:lnTo>
                    <a:pt x="4294632" y="0"/>
                  </a:lnTo>
                  <a:lnTo>
                    <a:pt x="4294632" y="57531"/>
                  </a:lnTo>
                  <a:lnTo>
                    <a:pt x="0" y="57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4554" r="1" b="-1404488"/>
              </a:stretch>
            </a:blipFill>
            <a:ln w="40429" cap="sq">
              <a:solidFill>
                <a:srgbClr val="C9D6FF"/>
              </a:solidFill>
              <a:prstDash val="dash"/>
              <a:miter/>
            </a:ln>
          </p:spPr>
        </p:sp>
      </p:grpSp>
      <p:sp>
        <p:nvSpPr>
          <p:cNvPr name="TextBox 108" id="108"/>
          <p:cNvSpPr txBox="true"/>
          <p:nvPr/>
        </p:nvSpPr>
        <p:spPr>
          <a:xfrm rot="0">
            <a:off x="1293762" y="18711986"/>
            <a:ext cx="18813523" cy="39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334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Mục tiêu: quy trình trên Base khớp thực tế từ 80% trước khi vận hành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93762" y="19501542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Đào tạo theo mô hình 3C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1293762" y="20269010"/>
            <a:ext cx="5983672" cy="2479719"/>
            <a:chOff x="0" y="0"/>
            <a:chExt cx="7978229" cy="330629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978267" cy="3306318"/>
            </a:xfrm>
            <a:custGeom>
              <a:avLst/>
              <a:gdLst/>
              <a:ahLst/>
              <a:cxnLst/>
              <a:rect r="r" b="b" t="t" l="l"/>
              <a:pathLst>
                <a:path h="3306318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7102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2875026"/>
                  </a:lnTo>
                  <a:cubicBezTo>
                    <a:pt x="7978267" y="3113151"/>
                    <a:pt x="7785227" y="3306318"/>
                    <a:pt x="7546975" y="3306318"/>
                  </a:cubicBezTo>
                  <a:lnTo>
                    <a:pt x="431292" y="3306318"/>
                  </a:lnTo>
                  <a:cubicBezTo>
                    <a:pt x="193040" y="3306318"/>
                    <a:pt x="0" y="3113278"/>
                    <a:pt x="0" y="2875026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112" id="112"/>
          <p:cNvSpPr txBox="true"/>
          <p:nvPr/>
        </p:nvSpPr>
        <p:spPr>
          <a:xfrm rot="0">
            <a:off x="1725025" y="20562256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Course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725025" y="21217042"/>
            <a:ext cx="5121154" cy="44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Đào tạo theo vai trò từng bộ phận.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7708687" y="20269010"/>
            <a:ext cx="5983672" cy="2479719"/>
            <a:chOff x="0" y="0"/>
            <a:chExt cx="7978229" cy="3306293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978267" cy="3306318"/>
            </a:xfrm>
            <a:custGeom>
              <a:avLst/>
              <a:gdLst/>
              <a:ahLst/>
              <a:cxnLst/>
              <a:rect r="r" b="b" t="t" l="l"/>
              <a:pathLst>
                <a:path h="3306318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7102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2875026"/>
                  </a:lnTo>
                  <a:cubicBezTo>
                    <a:pt x="7978267" y="3113151"/>
                    <a:pt x="7785227" y="3306318"/>
                    <a:pt x="7546975" y="3306318"/>
                  </a:cubicBezTo>
                  <a:lnTo>
                    <a:pt x="431292" y="3306318"/>
                  </a:lnTo>
                  <a:cubicBezTo>
                    <a:pt x="193040" y="3306318"/>
                    <a:pt x="0" y="3113278"/>
                    <a:pt x="0" y="2875026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116" id="116"/>
          <p:cNvSpPr txBox="true"/>
          <p:nvPr/>
        </p:nvSpPr>
        <p:spPr>
          <a:xfrm rot="0">
            <a:off x="8139951" y="20562256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Check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8139951" y="21217042"/>
            <a:ext cx="5121154" cy="89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Kiểm tra thực hành trên quy trình thật.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14123613" y="20269010"/>
            <a:ext cx="5983672" cy="2479719"/>
            <a:chOff x="0" y="0"/>
            <a:chExt cx="7978229" cy="330629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978267" cy="3306318"/>
            </a:xfrm>
            <a:custGeom>
              <a:avLst/>
              <a:gdLst/>
              <a:ahLst/>
              <a:cxnLst/>
              <a:rect r="r" b="b" t="t" l="l"/>
              <a:pathLst>
                <a:path h="3306318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7102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2875026"/>
                  </a:lnTo>
                  <a:cubicBezTo>
                    <a:pt x="7978267" y="3113151"/>
                    <a:pt x="7785227" y="3306318"/>
                    <a:pt x="7546975" y="3306318"/>
                  </a:cubicBezTo>
                  <a:lnTo>
                    <a:pt x="431292" y="3306318"/>
                  </a:lnTo>
                  <a:cubicBezTo>
                    <a:pt x="193040" y="3306318"/>
                    <a:pt x="0" y="3113278"/>
                    <a:pt x="0" y="2875026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120" id="120"/>
          <p:cNvSpPr txBox="true"/>
          <p:nvPr/>
        </p:nvSpPr>
        <p:spPr>
          <a:xfrm rot="0">
            <a:off x="14554876" y="20562256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Certificate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4554876" y="21217042"/>
            <a:ext cx="5121154" cy="89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Cấp chứng chỉ người dùng thành thạo.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293762" y="29223843"/>
            <a:ext cx="6388117" cy="39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4A587A"/>
                </a:solidFill>
                <a:latin typeface="Inter"/>
                <a:ea typeface="Inter"/>
                <a:cs typeface="Inter"/>
                <a:sym typeface="Inter"/>
              </a:rPr>
              <a:t>Base.vn · Dành cho Ban Lãnh đạo VB Holdings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9495462" y="29223843"/>
            <a:ext cx="611832" cy="39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8"/>
              </a:lnSpc>
            </a:pP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 / 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401056" cy="4043020"/>
            <a:chOff x="0" y="0"/>
            <a:chExt cx="28534741" cy="5390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4742" cy="5390642"/>
            </a:xfrm>
            <a:custGeom>
              <a:avLst/>
              <a:gdLst/>
              <a:ahLst/>
              <a:cxnLst/>
              <a:rect r="r" b="b" t="t" l="l"/>
              <a:pathLst>
                <a:path h="5390642" w="28534742">
                  <a:moveTo>
                    <a:pt x="0" y="0"/>
                  </a:moveTo>
                  <a:lnTo>
                    <a:pt x="28534742" y="0"/>
                  </a:lnTo>
                  <a:lnTo>
                    <a:pt x="28534742" y="5390642"/>
                  </a:lnTo>
                  <a:lnTo>
                    <a:pt x="0" y="5390642"/>
                  </a:ln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93762" y="922696"/>
            <a:ext cx="15093944" cy="4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b="true" sz="2546" spc="297">
                <a:solidFill>
                  <a:srgbClr val="23BFFF"/>
                </a:solidFill>
                <a:latin typeface="Inter Bold"/>
                <a:ea typeface="Inter Bold"/>
                <a:cs typeface="Inter Bold"/>
                <a:sym typeface="Inter Bold"/>
              </a:rPr>
              <a:t>GIÁ TRỊ VÀ BƯỚC TIẾP THEO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762" y="1417387"/>
            <a:ext cx="15902549" cy="87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3"/>
              </a:lnSpc>
            </a:pPr>
            <a:r>
              <a:rPr lang="en-US" sz="551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Lộ trình và bước tiếp theo cùng VB Holdings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762" y="3132887"/>
            <a:ext cx="16172078" cy="45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651">
                <a:solidFill>
                  <a:srgbClr val="C9D6FF"/>
                </a:solidFill>
                <a:latin typeface="Inter"/>
                <a:ea typeface="Inter"/>
                <a:cs typeface="Inter"/>
                <a:sym typeface="Inter"/>
              </a:rPr>
              <a:t>Tiếp cận từ hoạt động số hoá giấy tờ đến tự động hoá quy trình với AI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50223" y="808606"/>
            <a:ext cx="2857071" cy="1078135"/>
            <a:chOff x="0" y="0"/>
            <a:chExt cx="3809428" cy="14375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09492" cy="1437513"/>
            </a:xfrm>
            <a:custGeom>
              <a:avLst/>
              <a:gdLst/>
              <a:ahLst/>
              <a:cxnLst/>
              <a:rect r="r" b="b" t="t" l="l"/>
              <a:pathLst>
                <a:path h="1437513" w="3809492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3521964" y="0"/>
                  </a:lnTo>
                  <a:cubicBezTo>
                    <a:pt x="3680714" y="0"/>
                    <a:pt x="3809492" y="128778"/>
                    <a:pt x="3809492" y="287528"/>
                  </a:cubicBezTo>
                  <a:lnTo>
                    <a:pt x="3809492" y="1149985"/>
                  </a:lnTo>
                  <a:cubicBezTo>
                    <a:pt x="3809492" y="1308735"/>
                    <a:pt x="3680714" y="1437513"/>
                    <a:pt x="3521964" y="1437513"/>
                  </a:cubicBezTo>
                  <a:lnTo>
                    <a:pt x="287528" y="1437513"/>
                  </a:lnTo>
                  <a:cubicBezTo>
                    <a:pt x="128778" y="1437513"/>
                    <a:pt x="0" y="1308735"/>
                    <a:pt x="0" y="11499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411938" y="916419"/>
            <a:ext cx="2533621" cy="862508"/>
            <a:chOff x="0" y="0"/>
            <a:chExt cx="3378162" cy="1150010"/>
          </a:xfrm>
        </p:grpSpPr>
        <p:sp>
          <p:nvSpPr>
            <p:cNvPr name="Freeform 10" id="10" descr="i3.png"/>
            <p:cNvSpPr/>
            <p:nvPr/>
          </p:nvSpPr>
          <p:spPr>
            <a:xfrm flipH="false" flipV="false" rot="0">
              <a:off x="0" y="0"/>
              <a:ext cx="3378200" cy="1149985"/>
            </a:xfrm>
            <a:custGeom>
              <a:avLst/>
              <a:gdLst/>
              <a:ahLst/>
              <a:cxnLst/>
              <a:rect r="r" b="b" t="t" l="l"/>
              <a:pathLst>
                <a:path h="1149985" w="3378200">
                  <a:moveTo>
                    <a:pt x="0" y="0"/>
                  </a:moveTo>
                  <a:lnTo>
                    <a:pt x="3378200" y="0"/>
                  </a:lnTo>
                  <a:lnTo>
                    <a:pt x="3378200" y="1149985"/>
                  </a:lnTo>
                  <a:lnTo>
                    <a:pt x="0" y="1149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93762" y="4515412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Lộ trình đề xuất 3 giai đoạn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93762" y="5282879"/>
            <a:ext cx="5983672" cy="4528185"/>
            <a:chOff x="0" y="0"/>
            <a:chExt cx="7978229" cy="60375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78140" cy="6037580"/>
            </a:xfrm>
            <a:custGeom>
              <a:avLst/>
              <a:gdLst/>
              <a:ahLst/>
              <a:cxnLst/>
              <a:rect r="r" b="b" t="t" l="l"/>
              <a:pathLst>
                <a:path h="6037580" w="7978140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7546975" y="0"/>
                  </a:lnTo>
                  <a:cubicBezTo>
                    <a:pt x="7785100" y="0"/>
                    <a:pt x="7978140" y="193040"/>
                    <a:pt x="7978140" y="431165"/>
                  </a:cubicBezTo>
                  <a:lnTo>
                    <a:pt x="7978140" y="5606415"/>
                  </a:lnTo>
                  <a:cubicBezTo>
                    <a:pt x="7978140" y="5844540"/>
                    <a:pt x="7785100" y="6037580"/>
                    <a:pt x="7546975" y="6037580"/>
                  </a:cubicBezTo>
                  <a:lnTo>
                    <a:pt x="431165" y="6037580"/>
                  </a:lnTo>
                  <a:cubicBezTo>
                    <a:pt x="193040" y="6037580"/>
                    <a:pt x="0" y="5844540"/>
                    <a:pt x="0" y="5606415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93762" y="5282879"/>
            <a:ext cx="5983672" cy="161725"/>
            <a:chOff x="0" y="0"/>
            <a:chExt cx="7978229" cy="2156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78267" cy="215646"/>
            </a:xfrm>
            <a:custGeom>
              <a:avLst/>
              <a:gdLst/>
              <a:ahLst/>
              <a:cxnLst/>
              <a:rect r="r" b="b" t="t" l="l"/>
              <a:pathLst>
                <a:path h="215646" w="7978267">
                  <a:moveTo>
                    <a:pt x="0" y="0"/>
                  </a:moveTo>
                  <a:lnTo>
                    <a:pt x="7978267" y="0"/>
                  </a:lnTo>
                  <a:lnTo>
                    <a:pt x="7978267" y="215646"/>
                  </a:lnTo>
                  <a:lnTo>
                    <a:pt x="0" y="215646"/>
                  </a:lnTo>
                  <a:close/>
                </a:path>
              </a:pathLst>
            </a:custGeom>
            <a:solidFill>
              <a:srgbClr val="2565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71114" y="5710895"/>
            <a:ext cx="5228977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Giai đoạn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1114" y="6259487"/>
            <a:ext cx="5228977" cy="49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Văn phòng số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1114" y="7445435"/>
            <a:ext cx="5228977" cy="80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34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Giao việc, đề xuất, văn bản, ký số; Quick-win trong 2 đến 4 tuần.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08687" y="5282879"/>
            <a:ext cx="5983672" cy="4528185"/>
            <a:chOff x="0" y="0"/>
            <a:chExt cx="7978229" cy="60375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78140" cy="6037580"/>
            </a:xfrm>
            <a:custGeom>
              <a:avLst/>
              <a:gdLst/>
              <a:ahLst/>
              <a:cxnLst/>
              <a:rect r="r" b="b" t="t" l="l"/>
              <a:pathLst>
                <a:path h="6037580" w="7978140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7546975" y="0"/>
                  </a:lnTo>
                  <a:cubicBezTo>
                    <a:pt x="7785100" y="0"/>
                    <a:pt x="7978140" y="193040"/>
                    <a:pt x="7978140" y="431165"/>
                  </a:cubicBezTo>
                  <a:lnTo>
                    <a:pt x="7978140" y="5606415"/>
                  </a:lnTo>
                  <a:cubicBezTo>
                    <a:pt x="7978140" y="5844540"/>
                    <a:pt x="7785100" y="6037580"/>
                    <a:pt x="7546975" y="6037580"/>
                  </a:cubicBezTo>
                  <a:lnTo>
                    <a:pt x="431165" y="6037580"/>
                  </a:lnTo>
                  <a:cubicBezTo>
                    <a:pt x="193040" y="6037580"/>
                    <a:pt x="0" y="5844540"/>
                    <a:pt x="0" y="5606415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708687" y="5282879"/>
            <a:ext cx="5983672" cy="161725"/>
            <a:chOff x="0" y="0"/>
            <a:chExt cx="7978229" cy="2156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78267" cy="215646"/>
            </a:xfrm>
            <a:custGeom>
              <a:avLst/>
              <a:gdLst/>
              <a:ahLst/>
              <a:cxnLst/>
              <a:rect r="r" b="b" t="t" l="l"/>
              <a:pathLst>
                <a:path h="215646" w="7978267">
                  <a:moveTo>
                    <a:pt x="0" y="0"/>
                  </a:moveTo>
                  <a:lnTo>
                    <a:pt x="7978267" y="0"/>
                  </a:lnTo>
                  <a:lnTo>
                    <a:pt x="7978267" y="215646"/>
                  </a:lnTo>
                  <a:lnTo>
                    <a:pt x="0" y="215646"/>
                  </a:lnTo>
                  <a:close/>
                </a:path>
              </a:pathLst>
            </a:custGeom>
            <a:solidFill>
              <a:srgbClr val="13578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086039" y="5710895"/>
            <a:ext cx="5228977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Giai đoạn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86039" y="6259487"/>
            <a:ext cx="5228977" cy="99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Quy trình nghiệp vụ chuyên sâu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86039" y="7445435"/>
            <a:ext cx="5228977" cy="121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34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Quản lý hợp đồng, quản lý hồ sơ mời thầu, Quản trị mua hàng thanh toán, Lịch công tác đặt xe,...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123613" y="5282879"/>
            <a:ext cx="5983672" cy="4528185"/>
            <a:chOff x="0" y="0"/>
            <a:chExt cx="7978229" cy="60375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78140" cy="6037580"/>
            </a:xfrm>
            <a:custGeom>
              <a:avLst/>
              <a:gdLst/>
              <a:ahLst/>
              <a:cxnLst/>
              <a:rect r="r" b="b" t="t" l="l"/>
              <a:pathLst>
                <a:path h="6037580" w="7978140">
                  <a:moveTo>
                    <a:pt x="0" y="431165"/>
                  </a:moveTo>
                  <a:cubicBezTo>
                    <a:pt x="0" y="193040"/>
                    <a:pt x="193040" y="0"/>
                    <a:pt x="431165" y="0"/>
                  </a:cubicBezTo>
                  <a:lnTo>
                    <a:pt x="7546975" y="0"/>
                  </a:lnTo>
                  <a:cubicBezTo>
                    <a:pt x="7785100" y="0"/>
                    <a:pt x="7978140" y="193040"/>
                    <a:pt x="7978140" y="431165"/>
                  </a:cubicBezTo>
                  <a:lnTo>
                    <a:pt x="7978140" y="5606415"/>
                  </a:lnTo>
                  <a:cubicBezTo>
                    <a:pt x="7978140" y="5844540"/>
                    <a:pt x="7785100" y="6037580"/>
                    <a:pt x="7546975" y="6037580"/>
                  </a:cubicBezTo>
                  <a:lnTo>
                    <a:pt x="431165" y="6037580"/>
                  </a:lnTo>
                  <a:cubicBezTo>
                    <a:pt x="193040" y="6037580"/>
                    <a:pt x="0" y="5844540"/>
                    <a:pt x="0" y="5606415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123613" y="5282879"/>
            <a:ext cx="5983672" cy="161725"/>
            <a:chOff x="0" y="0"/>
            <a:chExt cx="7978229" cy="2156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78267" cy="215646"/>
            </a:xfrm>
            <a:custGeom>
              <a:avLst/>
              <a:gdLst/>
              <a:ahLst/>
              <a:cxnLst/>
              <a:rect r="r" b="b" t="t" l="l"/>
              <a:pathLst>
                <a:path h="215646" w="7978267">
                  <a:moveTo>
                    <a:pt x="0" y="0"/>
                  </a:moveTo>
                  <a:lnTo>
                    <a:pt x="7978267" y="0"/>
                  </a:lnTo>
                  <a:lnTo>
                    <a:pt x="7978267" y="215646"/>
                  </a:lnTo>
                  <a:lnTo>
                    <a:pt x="0" y="215646"/>
                  </a:lnTo>
                  <a:close/>
                </a:path>
              </a:pathLst>
            </a:custGeom>
            <a:solidFill>
              <a:srgbClr val="2565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500965" y="5710895"/>
            <a:ext cx="5228977" cy="42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Giai đoạn 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500965" y="6259487"/>
            <a:ext cx="5228977" cy="493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AI Agents tích hợp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00965" y="7445435"/>
            <a:ext cx="5228977" cy="80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34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AI Agents tích hợp phân tích báo cáo, tự động hoá quy trình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3762" y="10337368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Lợi ích cho Ban Lãnh đạo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93762" y="11104826"/>
            <a:ext cx="5983672" cy="3018787"/>
            <a:chOff x="0" y="0"/>
            <a:chExt cx="7978229" cy="402504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978267" cy="4025138"/>
            </a:xfrm>
            <a:custGeom>
              <a:avLst/>
              <a:gdLst/>
              <a:ahLst/>
              <a:cxnLst/>
              <a:rect r="r" b="b" t="t" l="l"/>
              <a:pathLst>
                <a:path h="4025138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3593846"/>
                  </a:lnTo>
                  <a:cubicBezTo>
                    <a:pt x="7978267" y="3831971"/>
                    <a:pt x="7785227" y="4025138"/>
                    <a:pt x="7546975" y="4025138"/>
                  </a:cubicBezTo>
                  <a:lnTo>
                    <a:pt x="431292" y="4025138"/>
                  </a:lnTo>
                  <a:cubicBezTo>
                    <a:pt x="193040" y="4025011"/>
                    <a:pt x="0" y="3831971"/>
                    <a:pt x="0" y="3593846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725025" y="11398072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Kiểm soát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25025" y="12052859"/>
            <a:ext cx="5121154" cy="89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Mọi phê duyệt, hợp đồng, hồ sơ có lưu vết.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708687" y="11104826"/>
            <a:ext cx="5983672" cy="3018787"/>
            <a:chOff x="0" y="0"/>
            <a:chExt cx="7978229" cy="402504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978267" cy="4025138"/>
            </a:xfrm>
            <a:custGeom>
              <a:avLst/>
              <a:gdLst/>
              <a:ahLst/>
              <a:cxnLst/>
              <a:rect r="r" b="b" t="t" l="l"/>
              <a:pathLst>
                <a:path h="4025138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3593846"/>
                  </a:lnTo>
                  <a:cubicBezTo>
                    <a:pt x="7978267" y="3831971"/>
                    <a:pt x="7785227" y="4025138"/>
                    <a:pt x="7546975" y="4025138"/>
                  </a:cubicBezTo>
                  <a:lnTo>
                    <a:pt x="431292" y="4025138"/>
                  </a:lnTo>
                  <a:cubicBezTo>
                    <a:pt x="193040" y="4025011"/>
                    <a:pt x="0" y="3831971"/>
                    <a:pt x="0" y="3593846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139951" y="11398072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Nhanh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139951" y="12052859"/>
            <a:ext cx="5121154" cy="89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Rút ngắn thời gian duyệt giá, hợp đồng, onboarding.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4123613" y="11104826"/>
            <a:ext cx="5983672" cy="3018787"/>
            <a:chOff x="0" y="0"/>
            <a:chExt cx="7978229" cy="40250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978267" cy="4025138"/>
            </a:xfrm>
            <a:custGeom>
              <a:avLst/>
              <a:gdLst/>
              <a:ahLst/>
              <a:cxnLst/>
              <a:rect r="r" b="b" t="t" l="l"/>
              <a:pathLst>
                <a:path h="4025138" w="7978267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7546975" y="0"/>
                  </a:lnTo>
                  <a:cubicBezTo>
                    <a:pt x="7785100" y="0"/>
                    <a:pt x="7978267" y="193040"/>
                    <a:pt x="7978267" y="431292"/>
                  </a:cubicBezTo>
                  <a:lnTo>
                    <a:pt x="7978267" y="3593846"/>
                  </a:lnTo>
                  <a:cubicBezTo>
                    <a:pt x="7978267" y="3831971"/>
                    <a:pt x="7785227" y="4025138"/>
                    <a:pt x="7546975" y="4025138"/>
                  </a:cubicBezTo>
                  <a:lnTo>
                    <a:pt x="431292" y="4025138"/>
                  </a:lnTo>
                  <a:cubicBezTo>
                    <a:pt x="193040" y="4025011"/>
                    <a:pt x="0" y="3831971"/>
                    <a:pt x="0" y="3593846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4554876" y="11398072"/>
            <a:ext cx="5121154" cy="50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Một nguồn dữ liệu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554876" y="12052859"/>
            <a:ext cx="5121154" cy="89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439">
                <a:solidFill>
                  <a:srgbClr val="0B1B44"/>
                </a:solidFill>
                <a:latin typeface="Inter"/>
                <a:ea typeface="Inter"/>
                <a:cs typeface="Inter"/>
                <a:sym typeface="Inter"/>
              </a:rPr>
              <a:t>Quản trị tập trung trên một mặt phẳng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93762" y="14649917"/>
            <a:ext cx="18867425" cy="5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183" b="true">
                <a:solidFill>
                  <a:srgbClr val="13578A"/>
                </a:solidFill>
                <a:latin typeface="Inter Bold"/>
                <a:ea typeface="Inter Bold"/>
                <a:cs typeface="Inter Bold"/>
                <a:sym typeface="Inter Bold"/>
              </a:rPr>
              <a:t>Đề xuất buổi làm việc đầu tiên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93762" y="15417384"/>
            <a:ext cx="18813523" cy="1185948"/>
            <a:chOff x="0" y="0"/>
            <a:chExt cx="25084697" cy="15812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084787" cy="1581277"/>
            </a:xfrm>
            <a:custGeom>
              <a:avLst/>
              <a:gdLst/>
              <a:ahLst/>
              <a:cxnLst/>
              <a:rect r="r" b="b" t="t" l="l"/>
              <a:pathLst>
                <a:path h="1581277" w="25084787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24725376" y="0"/>
                  </a:lnTo>
                  <a:cubicBezTo>
                    <a:pt x="24923877" y="0"/>
                    <a:pt x="25084787" y="160909"/>
                    <a:pt x="25084787" y="359410"/>
                  </a:cubicBezTo>
                  <a:lnTo>
                    <a:pt x="25084787" y="1221867"/>
                  </a:lnTo>
                  <a:cubicBezTo>
                    <a:pt x="25084787" y="1420368"/>
                    <a:pt x="24923877" y="1581277"/>
                    <a:pt x="24725376" y="1581277"/>
                  </a:cubicBezTo>
                  <a:lnTo>
                    <a:pt x="359410" y="1581277"/>
                  </a:lnTo>
                  <a:cubicBezTo>
                    <a:pt x="160909" y="1581277"/>
                    <a:pt x="0" y="1420368"/>
                    <a:pt x="0" y="1221867"/>
                  </a:cubicBezTo>
                  <a:close/>
                </a:path>
              </a:pathLst>
            </a:custGeom>
            <a:solidFill>
              <a:srgbClr val="E3F6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617212" y="15713869"/>
            <a:ext cx="592979" cy="592979"/>
            <a:chOff x="0" y="0"/>
            <a:chExt cx="790638" cy="79063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90575" cy="790575"/>
            </a:xfrm>
            <a:custGeom>
              <a:avLst/>
              <a:gdLst/>
              <a:ahLst/>
              <a:cxnLst/>
              <a:rect r="r" b="b" t="t" l="l"/>
              <a:pathLst>
                <a:path h="790575" w="790575">
                  <a:moveTo>
                    <a:pt x="0" y="395351"/>
                  </a:moveTo>
                  <a:cubicBezTo>
                    <a:pt x="0" y="177038"/>
                    <a:pt x="177038" y="0"/>
                    <a:pt x="395351" y="0"/>
                  </a:cubicBezTo>
                  <a:cubicBezTo>
                    <a:pt x="613664" y="0"/>
                    <a:pt x="790575" y="177038"/>
                    <a:pt x="790575" y="395351"/>
                  </a:cubicBezTo>
                  <a:cubicBezTo>
                    <a:pt x="790575" y="613664"/>
                    <a:pt x="613664" y="790575"/>
                    <a:pt x="395351" y="790575"/>
                  </a:cubicBezTo>
                  <a:cubicBezTo>
                    <a:pt x="177038" y="790575"/>
                    <a:pt x="0" y="613664"/>
                    <a:pt x="0" y="395351"/>
                  </a:cubicBezTo>
                  <a:close/>
                </a:path>
              </a:pathLst>
            </a:custGeom>
            <a:solidFill>
              <a:srgbClr val="FFD96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617212" y="15713869"/>
            <a:ext cx="592979" cy="592976"/>
            <a:chOff x="0" y="0"/>
            <a:chExt cx="790638" cy="79063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90635" cy="790632"/>
            </a:xfrm>
            <a:custGeom>
              <a:avLst/>
              <a:gdLst/>
              <a:ahLst/>
              <a:cxnLst/>
              <a:rect r="r" b="b" t="t" l="l"/>
              <a:pathLst>
                <a:path h="790632" w="790635">
                  <a:moveTo>
                    <a:pt x="0" y="0"/>
                  </a:moveTo>
                  <a:lnTo>
                    <a:pt x="790635" y="0"/>
                  </a:lnTo>
                  <a:lnTo>
                    <a:pt x="790635" y="790632"/>
                  </a:lnTo>
                  <a:lnTo>
                    <a:pt x="0" y="790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790638" cy="83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546" b="true">
                  <a:solidFill>
                    <a:srgbClr val="0312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533621" y="15417384"/>
            <a:ext cx="6199299" cy="1185953"/>
            <a:chOff x="0" y="0"/>
            <a:chExt cx="8265732" cy="15812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65730" cy="1581276"/>
            </a:xfrm>
            <a:custGeom>
              <a:avLst/>
              <a:gdLst/>
              <a:ahLst/>
              <a:cxnLst/>
              <a:rect r="r" b="b" t="t" l="l"/>
              <a:pathLst>
                <a:path h="1581276" w="8265730">
                  <a:moveTo>
                    <a:pt x="0" y="0"/>
                  </a:moveTo>
                  <a:lnTo>
                    <a:pt x="8265730" y="0"/>
                  </a:lnTo>
                  <a:lnTo>
                    <a:pt x="8265730" y="1581276"/>
                  </a:lnTo>
                  <a:lnTo>
                    <a:pt x="0" y="15812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53" r="0" b="-5185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8265732" cy="163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2"/>
                </a:lnSpc>
              </a:pPr>
              <a:r>
                <a:rPr lang="en-US" sz="2651" b="true">
                  <a:solidFill>
                    <a:srgbClr val="13578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Thành phần tham dự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10272" y="15417384"/>
            <a:ext cx="10565759" cy="1185953"/>
            <a:chOff x="0" y="0"/>
            <a:chExt cx="14087678" cy="158127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087680" cy="1581276"/>
            </a:xfrm>
            <a:custGeom>
              <a:avLst/>
              <a:gdLst/>
              <a:ahLst/>
              <a:cxnLst/>
              <a:rect r="r" b="b" t="t" l="l"/>
              <a:pathLst>
                <a:path h="1581276" w="14087680">
                  <a:moveTo>
                    <a:pt x="0" y="0"/>
                  </a:moveTo>
                  <a:lnTo>
                    <a:pt x="14087680" y="0"/>
                  </a:lnTo>
                  <a:lnTo>
                    <a:pt x="14087680" y="1581276"/>
                  </a:lnTo>
                  <a:lnTo>
                    <a:pt x="0" y="15812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14087678" cy="163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5"/>
                </a:lnSpc>
              </a:pPr>
              <a:r>
                <a:rPr lang="en-US" sz="2439">
                  <a:solidFill>
                    <a:srgbClr val="0B1B44"/>
                  </a:solidFill>
                  <a:latin typeface="Inter"/>
                  <a:ea typeface="Inter"/>
                  <a:cs typeface="Inter"/>
                  <a:sym typeface="Inter"/>
                </a:rPr>
                <a:t>Ban lãnh đạo VB Holdings và team dự án Base.vn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93762" y="16818959"/>
            <a:ext cx="18813523" cy="1185948"/>
            <a:chOff x="0" y="0"/>
            <a:chExt cx="25084697" cy="15812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084787" cy="1581277"/>
            </a:xfrm>
            <a:custGeom>
              <a:avLst/>
              <a:gdLst/>
              <a:ahLst/>
              <a:cxnLst/>
              <a:rect r="r" b="b" t="t" l="l"/>
              <a:pathLst>
                <a:path h="1581277" w="25084787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24725376" y="0"/>
                  </a:lnTo>
                  <a:cubicBezTo>
                    <a:pt x="24923877" y="0"/>
                    <a:pt x="25084787" y="160909"/>
                    <a:pt x="25084787" y="359410"/>
                  </a:cubicBezTo>
                  <a:lnTo>
                    <a:pt x="25084787" y="1221867"/>
                  </a:lnTo>
                  <a:cubicBezTo>
                    <a:pt x="25084787" y="1420368"/>
                    <a:pt x="24923877" y="1581277"/>
                    <a:pt x="24725376" y="1581277"/>
                  </a:cubicBezTo>
                  <a:lnTo>
                    <a:pt x="359410" y="1581277"/>
                  </a:lnTo>
                  <a:cubicBezTo>
                    <a:pt x="160909" y="1581277"/>
                    <a:pt x="0" y="1420368"/>
                    <a:pt x="0" y="1221867"/>
                  </a:cubicBezTo>
                  <a:close/>
                </a:path>
              </a:pathLst>
            </a:custGeom>
            <a:solidFill>
              <a:srgbClr val="E3F6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617212" y="17115453"/>
            <a:ext cx="592979" cy="592979"/>
            <a:chOff x="0" y="0"/>
            <a:chExt cx="790638" cy="79063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90575" cy="790575"/>
            </a:xfrm>
            <a:custGeom>
              <a:avLst/>
              <a:gdLst/>
              <a:ahLst/>
              <a:cxnLst/>
              <a:rect r="r" b="b" t="t" l="l"/>
              <a:pathLst>
                <a:path h="790575" w="790575">
                  <a:moveTo>
                    <a:pt x="0" y="395351"/>
                  </a:moveTo>
                  <a:cubicBezTo>
                    <a:pt x="0" y="177038"/>
                    <a:pt x="177038" y="0"/>
                    <a:pt x="395351" y="0"/>
                  </a:cubicBezTo>
                  <a:cubicBezTo>
                    <a:pt x="613664" y="0"/>
                    <a:pt x="790575" y="177038"/>
                    <a:pt x="790575" y="395351"/>
                  </a:cubicBezTo>
                  <a:cubicBezTo>
                    <a:pt x="790575" y="613664"/>
                    <a:pt x="613664" y="790575"/>
                    <a:pt x="395351" y="790575"/>
                  </a:cubicBezTo>
                  <a:cubicBezTo>
                    <a:pt x="177038" y="790575"/>
                    <a:pt x="0" y="613664"/>
                    <a:pt x="0" y="395351"/>
                  </a:cubicBezTo>
                  <a:close/>
                </a:path>
              </a:pathLst>
            </a:custGeom>
            <a:solidFill>
              <a:srgbClr val="FFD966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617212" y="17115453"/>
            <a:ext cx="592979" cy="592976"/>
            <a:chOff x="0" y="0"/>
            <a:chExt cx="790638" cy="79063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90635" cy="790632"/>
            </a:xfrm>
            <a:custGeom>
              <a:avLst/>
              <a:gdLst/>
              <a:ahLst/>
              <a:cxnLst/>
              <a:rect r="r" b="b" t="t" l="l"/>
              <a:pathLst>
                <a:path h="790632" w="790635">
                  <a:moveTo>
                    <a:pt x="0" y="0"/>
                  </a:moveTo>
                  <a:lnTo>
                    <a:pt x="790635" y="0"/>
                  </a:lnTo>
                  <a:lnTo>
                    <a:pt x="790635" y="790632"/>
                  </a:lnTo>
                  <a:lnTo>
                    <a:pt x="0" y="790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790638" cy="83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546" b="true">
                  <a:solidFill>
                    <a:srgbClr val="0312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533621" y="16818959"/>
            <a:ext cx="6199299" cy="1185953"/>
            <a:chOff x="0" y="0"/>
            <a:chExt cx="8265732" cy="15812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65730" cy="1581276"/>
            </a:xfrm>
            <a:custGeom>
              <a:avLst/>
              <a:gdLst/>
              <a:ahLst/>
              <a:cxnLst/>
              <a:rect r="r" b="b" t="t" l="l"/>
              <a:pathLst>
                <a:path h="1581276" w="8265730">
                  <a:moveTo>
                    <a:pt x="0" y="0"/>
                  </a:moveTo>
                  <a:lnTo>
                    <a:pt x="8265730" y="0"/>
                  </a:lnTo>
                  <a:lnTo>
                    <a:pt x="8265730" y="1581276"/>
                  </a:lnTo>
                  <a:lnTo>
                    <a:pt x="0" y="15812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53" r="0" b="-5185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8265732" cy="163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2"/>
                </a:lnSpc>
              </a:pPr>
              <a:r>
                <a:rPr lang="en-US" sz="2651" b="true">
                  <a:solidFill>
                    <a:srgbClr val="13578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Nội dung trao đổi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10272" y="16818959"/>
            <a:ext cx="10565759" cy="1185953"/>
            <a:chOff x="0" y="0"/>
            <a:chExt cx="14087678" cy="158127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087680" cy="1581276"/>
            </a:xfrm>
            <a:custGeom>
              <a:avLst/>
              <a:gdLst/>
              <a:ahLst/>
              <a:cxnLst/>
              <a:rect r="r" b="b" t="t" l="l"/>
              <a:pathLst>
                <a:path h="1581276" w="14087680">
                  <a:moveTo>
                    <a:pt x="0" y="0"/>
                  </a:moveTo>
                  <a:lnTo>
                    <a:pt x="14087680" y="0"/>
                  </a:lnTo>
                  <a:lnTo>
                    <a:pt x="14087680" y="1581276"/>
                  </a:lnTo>
                  <a:lnTo>
                    <a:pt x="0" y="15812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14087678" cy="163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5"/>
                </a:lnSpc>
              </a:pPr>
              <a:r>
                <a:rPr lang="en-US" sz="2439">
                  <a:solidFill>
                    <a:srgbClr val="0B1B44"/>
                  </a:solidFill>
                  <a:latin typeface="Inter"/>
                  <a:ea typeface="Inter"/>
                  <a:cs typeface="Inter"/>
                  <a:sym typeface="Inter"/>
                </a:rPr>
                <a:t>Khảo sát nhu cầu &amp; trình bày giải pháp phần mềm Base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93762" y="18220544"/>
            <a:ext cx="18813523" cy="1185948"/>
            <a:chOff x="0" y="0"/>
            <a:chExt cx="25084697" cy="15812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084787" cy="1581277"/>
            </a:xfrm>
            <a:custGeom>
              <a:avLst/>
              <a:gdLst/>
              <a:ahLst/>
              <a:cxnLst/>
              <a:rect r="r" b="b" t="t" l="l"/>
              <a:pathLst>
                <a:path h="1581277" w="25084787">
                  <a:moveTo>
                    <a:pt x="0" y="359410"/>
                  </a:moveTo>
                  <a:cubicBezTo>
                    <a:pt x="0" y="160909"/>
                    <a:pt x="160909" y="0"/>
                    <a:pt x="359410" y="0"/>
                  </a:cubicBezTo>
                  <a:lnTo>
                    <a:pt x="24725376" y="0"/>
                  </a:lnTo>
                  <a:cubicBezTo>
                    <a:pt x="24923877" y="0"/>
                    <a:pt x="25084787" y="160909"/>
                    <a:pt x="25084787" y="359410"/>
                  </a:cubicBezTo>
                  <a:lnTo>
                    <a:pt x="25084787" y="1221867"/>
                  </a:lnTo>
                  <a:cubicBezTo>
                    <a:pt x="25084787" y="1420368"/>
                    <a:pt x="24923877" y="1581277"/>
                    <a:pt x="24725376" y="1581277"/>
                  </a:cubicBezTo>
                  <a:lnTo>
                    <a:pt x="359410" y="1581277"/>
                  </a:lnTo>
                  <a:cubicBezTo>
                    <a:pt x="160909" y="1581277"/>
                    <a:pt x="0" y="1420368"/>
                    <a:pt x="0" y="1221867"/>
                  </a:cubicBezTo>
                  <a:close/>
                </a:path>
              </a:pathLst>
            </a:custGeom>
            <a:solidFill>
              <a:srgbClr val="E3F6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17212" y="18517029"/>
            <a:ext cx="592979" cy="592979"/>
            <a:chOff x="0" y="0"/>
            <a:chExt cx="790638" cy="79063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90575" cy="790575"/>
            </a:xfrm>
            <a:custGeom>
              <a:avLst/>
              <a:gdLst/>
              <a:ahLst/>
              <a:cxnLst/>
              <a:rect r="r" b="b" t="t" l="l"/>
              <a:pathLst>
                <a:path h="790575" w="790575">
                  <a:moveTo>
                    <a:pt x="0" y="395351"/>
                  </a:moveTo>
                  <a:cubicBezTo>
                    <a:pt x="0" y="177038"/>
                    <a:pt x="177038" y="0"/>
                    <a:pt x="395351" y="0"/>
                  </a:cubicBezTo>
                  <a:cubicBezTo>
                    <a:pt x="613664" y="0"/>
                    <a:pt x="790575" y="177038"/>
                    <a:pt x="790575" y="395351"/>
                  </a:cubicBezTo>
                  <a:cubicBezTo>
                    <a:pt x="790575" y="613664"/>
                    <a:pt x="613664" y="790575"/>
                    <a:pt x="395351" y="790575"/>
                  </a:cubicBezTo>
                  <a:cubicBezTo>
                    <a:pt x="177038" y="790575"/>
                    <a:pt x="0" y="613664"/>
                    <a:pt x="0" y="395351"/>
                  </a:cubicBezTo>
                  <a:close/>
                </a:path>
              </a:pathLst>
            </a:custGeom>
            <a:solidFill>
              <a:srgbClr val="FFD96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17212" y="18517029"/>
            <a:ext cx="592979" cy="592976"/>
            <a:chOff x="0" y="0"/>
            <a:chExt cx="790638" cy="79063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90635" cy="790632"/>
            </a:xfrm>
            <a:custGeom>
              <a:avLst/>
              <a:gdLst/>
              <a:ahLst/>
              <a:cxnLst/>
              <a:rect r="r" b="b" t="t" l="l"/>
              <a:pathLst>
                <a:path h="790632" w="790635">
                  <a:moveTo>
                    <a:pt x="0" y="0"/>
                  </a:moveTo>
                  <a:lnTo>
                    <a:pt x="790635" y="0"/>
                  </a:lnTo>
                  <a:lnTo>
                    <a:pt x="790635" y="790632"/>
                  </a:lnTo>
                  <a:lnTo>
                    <a:pt x="0" y="790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790638" cy="83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546" b="true">
                  <a:solidFill>
                    <a:srgbClr val="0312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533621" y="18220544"/>
            <a:ext cx="6199299" cy="1185953"/>
            <a:chOff x="0" y="0"/>
            <a:chExt cx="8265732" cy="158127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265730" cy="1581276"/>
            </a:xfrm>
            <a:custGeom>
              <a:avLst/>
              <a:gdLst/>
              <a:ahLst/>
              <a:cxnLst/>
              <a:rect r="r" b="b" t="t" l="l"/>
              <a:pathLst>
                <a:path h="1581276" w="8265730">
                  <a:moveTo>
                    <a:pt x="0" y="0"/>
                  </a:moveTo>
                  <a:lnTo>
                    <a:pt x="8265730" y="0"/>
                  </a:lnTo>
                  <a:lnTo>
                    <a:pt x="8265730" y="1581276"/>
                  </a:lnTo>
                  <a:lnTo>
                    <a:pt x="0" y="15812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53" r="0" b="-5185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8265732" cy="163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2"/>
                </a:lnSpc>
              </a:pPr>
              <a:r>
                <a:rPr lang="en-US" sz="2651" b="true">
                  <a:solidFill>
                    <a:srgbClr val="13578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Kết quả đầu ra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110272" y="18220544"/>
            <a:ext cx="10565759" cy="1185953"/>
            <a:chOff x="0" y="0"/>
            <a:chExt cx="14087678" cy="158127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087680" cy="1581276"/>
            </a:xfrm>
            <a:custGeom>
              <a:avLst/>
              <a:gdLst/>
              <a:ahLst/>
              <a:cxnLst/>
              <a:rect r="r" b="b" t="t" l="l"/>
              <a:pathLst>
                <a:path h="1581276" w="14087680">
                  <a:moveTo>
                    <a:pt x="0" y="0"/>
                  </a:moveTo>
                  <a:lnTo>
                    <a:pt x="14087680" y="0"/>
                  </a:lnTo>
                  <a:lnTo>
                    <a:pt x="14087680" y="1581276"/>
                  </a:lnTo>
                  <a:lnTo>
                    <a:pt x="0" y="15812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14087678" cy="163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5"/>
                </a:lnSpc>
              </a:pPr>
              <a:r>
                <a:rPr lang="en-US" sz="2439">
                  <a:solidFill>
                    <a:srgbClr val="0B1B44"/>
                  </a:solidFill>
                  <a:latin typeface="Inter"/>
                  <a:ea typeface="Inter"/>
                  <a:cs typeface="Inter"/>
                  <a:sym typeface="Inter"/>
                </a:rPr>
                <a:t>VB Holdings nắm rõ được giải pháp Base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93762" y="19837756"/>
            <a:ext cx="18813523" cy="3018787"/>
            <a:chOff x="0" y="0"/>
            <a:chExt cx="25084697" cy="402504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084785" cy="4025138"/>
            </a:xfrm>
            <a:custGeom>
              <a:avLst/>
              <a:gdLst/>
              <a:ahLst/>
              <a:cxnLst/>
              <a:rect r="r" b="b" t="t" l="l"/>
              <a:pathLst>
                <a:path h="4025138" w="25084785">
                  <a:moveTo>
                    <a:pt x="0" y="431292"/>
                  </a:moveTo>
                  <a:cubicBezTo>
                    <a:pt x="0" y="193040"/>
                    <a:pt x="193040" y="0"/>
                    <a:pt x="431292" y="0"/>
                  </a:cubicBezTo>
                  <a:lnTo>
                    <a:pt x="24653494" y="0"/>
                  </a:lnTo>
                  <a:cubicBezTo>
                    <a:pt x="24891619" y="0"/>
                    <a:pt x="25084785" y="193040"/>
                    <a:pt x="25084785" y="431292"/>
                  </a:cubicBezTo>
                  <a:lnTo>
                    <a:pt x="25084785" y="3593846"/>
                  </a:lnTo>
                  <a:cubicBezTo>
                    <a:pt x="25084785" y="3831971"/>
                    <a:pt x="24891746" y="4025138"/>
                    <a:pt x="24653494" y="4025138"/>
                  </a:cubicBezTo>
                  <a:lnTo>
                    <a:pt x="431292" y="4025138"/>
                  </a:lnTo>
                  <a:cubicBezTo>
                    <a:pt x="193040" y="4025011"/>
                    <a:pt x="0" y="3831971"/>
                    <a:pt x="0" y="359384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123A">
                    <a:alpha val="100000"/>
                  </a:srgbClr>
                </a:gs>
                <a:gs pos="100000">
                  <a:srgbClr val="0315AC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832839" y="20215098"/>
            <a:ext cx="3234414" cy="1078135"/>
            <a:chOff x="0" y="0"/>
            <a:chExt cx="4312552" cy="143751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312666" cy="1437513"/>
            </a:xfrm>
            <a:custGeom>
              <a:avLst/>
              <a:gdLst/>
              <a:ahLst/>
              <a:cxnLst/>
              <a:rect r="r" b="b" t="t" l="l"/>
              <a:pathLst>
                <a:path h="1437513" w="4312666">
                  <a:moveTo>
                    <a:pt x="0" y="287528"/>
                  </a:moveTo>
                  <a:cubicBezTo>
                    <a:pt x="0" y="128778"/>
                    <a:pt x="128778" y="0"/>
                    <a:pt x="287528" y="0"/>
                  </a:cubicBezTo>
                  <a:lnTo>
                    <a:pt x="4025138" y="0"/>
                  </a:lnTo>
                  <a:cubicBezTo>
                    <a:pt x="4183888" y="0"/>
                    <a:pt x="4312666" y="128778"/>
                    <a:pt x="4312666" y="287528"/>
                  </a:cubicBezTo>
                  <a:lnTo>
                    <a:pt x="4312666" y="1149985"/>
                  </a:lnTo>
                  <a:cubicBezTo>
                    <a:pt x="4312666" y="1308735"/>
                    <a:pt x="4183888" y="1437513"/>
                    <a:pt x="4025138" y="1437513"/>
                  </a:cubicBezTo>
                  <a:lnTo>
                    <a:pt x="287528" y="1437513"/>
                  </a:lnTo>
                  <a:cubicBezTo>
                    <a:pt x="128778" y="1437513"/>
                    <a:pt x="0" y="1308735"/>
                    <a:pt x="0" y="11499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994554" y="20322911"/>
            <a:ext cx="2910973" cy="862508"/>
            <a:chOff x="0" y="0"/>
            <a:chExt cx="3881298" cy="1150010"/>
          </a:xfrm>
        </p:grpSpPr>
        <p:sp>
          <p:nvSpPr>
            <p:cNvPr name="Freeform 91" id="91" descr="i26.png"/>
            <p:cNvSpPr/>
            <p:nvPr/>
          </p:nvSpPr>
          <p:spPr>
            <a:xfrm flipH="false" flipV="false" rot="0">
              <a:off x="0" y="0"/>
              <a:ext cx="3881247" cy="1149985"/>
            </a:xfrm>
            <a:custGeom>
              <a:avLst/>
              <a:gdLst/>
              <a:ahLst/>
              <a:cxnLst/>
              <a:rect r="r" b="b" t="t" l="l"/>
              <a:pathLst>
                <a:path h="1149985" w="3881247">
                  <a:moveTo>
                    <a:pt x="0" y="0"/>
                  </a:moveTo>
                  <a:lnTo>
                    <a:pt x="3881247" y="0"/>
                  </a:lnTo>
                  <a:lnTo>
                    <a:pt x="3881247" y="1149985"/>
                  </a:lnTo>
                  <a:lnTo>
                    <a:pt x="0" y="1149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2"/>
              </a:stretch>
            </a:blip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1832839" y="21515146"/>
            <a:ext cx="8086039" cy="78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Base Enterprise</a:t>
            </a:r>
          </a:p>
          <a:p>
            <a:pPr algn="l">
              <a:lnSpc>
                <a:spcPts val="3183"/>
              </a:lnSpc>
            </a:pPr>
            <a:r>
              <a:rPr lang="en-US" sz="22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Tầng 16, HUD Tower, 37 Lê Văn Lương, Hà Nội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293762" y="29223843"/>
            <a:ext cx="6388117" cy="39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4A587A"/>
                </a:solidFill>
                <a:latin typeface="Inter"/>
                <a:ea typeface="Inter"/>
                <a:cs typeface="Inter"/>
                <a:sym typeface="Inter"/>
              </a:rPr>
              <a:t>Base.vn · Dành cho Ban Lãnh đạo VB Holdings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9515777" y="29223843"/>
            <a:ext cx="591517" cy="39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8"/>
              </a:lnSpc>
            </a:pP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7</a:t>
            </a:r>
            <a:r>
              <a:rPr lang="en-US" sz="2334" b="true">
                <a:solidFill>
                  <a:srgbClr val="2565FF"/>
                </a:solidFill>
                <a:latin typeface="Inter Bold"/>
                <a:ea typeface="Inter Bold"/>
                <a:cs typeface="Inter Bold"/>
                <a:sym typeface="Inter Bold"/>
              </a:rPr>
              <a:t> / 7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586139" y="21315104"/>
            <a:ext cx="8086039" cy="118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2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Name: Mr Nguyễn Văn Long - </a:t>
            </a:r>
            <a:r>
              <a:rPr lang="en-US" sz="22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 Consultant</a:t>
            </a:r>
          </a:p>
          <a:p>
            <a:pPr algn="l">
              <a:lnSpc>
                <a:spcPts val="3182"/>
              </a:lnSpc>
            </a:pPr>
            <a:r>
              <a:rPr lang="en-US" sz="22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Phone: +84869095943</a:t>
            </a:r>
          </a:p>
          <a:p>
            <a:pPr algn="l">
              <a:lnSpc>
                <a:spcPts val="3183"/>
              </a:lnSpc>
            </a:pPr>
            <a:r>
              <a:rPr lang="en-US" sz="22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Email: long.nguyen04@base.vn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DAHYdh-u7Ck</dc:identifier>
  <dcterms:modified xsi:type="dcterms:W3CDTF">2011-08-01T06:04:30Z</dcterms:modified>
  <cp:revision>1</cp:revision>
  <dc:title>VB Holdings - Đề xuất giải pháp Chuyển đổi số</dc:title>
</cp:coreProperties>
</file>